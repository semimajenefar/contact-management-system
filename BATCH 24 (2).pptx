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42" r:id="rId1"/>
  </p:sldMasterIdLst>
  <p:notesMasterIdLst>
    <p:notesMasterId r:id="rId17"/>
  </p:notesMasterIdLst>
  <p:handoutMasterIdLst>
    <p:handoutMasterId r:id="rId18"/>
  </p:handoutMasterIdLst>
  <p:sldIdLst>
    <p:sldId id="529" r:id="rId2"/>
    <p:sldId id="495" r:id="rId3"/>
    <p:sldId id="514" r:id="rId4"/>
    <p:sldId id="497" r:id="rId5"/>
    <p:sldId id="515" r:id="rId6"/>
    <p:sldId id="516" r:id="rId7"/>
    <p:sldId id="517" r:id="rId8"/>
    <p:sldId id="518" r:id="rId9"/>
    <p:sldId id="520" r:id="rId10"/>
    <p:sldId id="530" r:id="rId11"/>
    <p:sldId id="531" r:id="rId12"/>
    <p:sldId id="534" r:id="rId13"/>
    <p:sldId id="537" r:id="rId14"/>
    <p:sldId id="533" r:id="rId15"/>
    <p:sldId id="528" r:id="rId16"/>
  </p:sldIdLst>
  <p:sldSz cx="9144000" cy="5143500" type="screen16x9"/>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FF"/>
    <a:srgbClr val="A9ACEF"/>
    <a:srgbClr val="0000CC"/>
    <a:srgbClr val="A50021"/>
    <a:srgbClr val="6633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30" autoAdjust="0"/>
    <p:restoredTop sz="87621" autoAdjust="0"/>
  </p:normalViewPr>
  <p:slideViewPr>
    <p:cSldViewPr>
      <p:cViewPr varScale="1">
        <p:scale>
          <a:sx n="59" d="100"/>
          <a:sy n="59" d="100"/>
        </p:scale>
        <p:origin x="34" y="638"/>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lstStyle>
          <a:p>
            <a:pPr>
              <a:defRPr/>
            </a:pPr>
            <a:endParaRPr lang="en-US"/>
          </a:p>
        </p:txBody>
      </p:sp>
      <p:sp>
        <p:nvSpPr>
          <p:cNvPr id="3" name="Date Placeholder 2"/>
          <p:cNvSpPr>
            <a:spLocks noGrp="1"/>
          </p:cNvSpPr>
          <p:nvPr>
            <p:ph type="dt" sz="quarter"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lstStyle>
          <a:p>
            <a:pPr>
              <a:defRPr/>
            </a:pPr>
            <a:fld id="{14FDCBBC-8C6D-4B91-8E0F-7F7539A60517}" type="datetimeFigureOut">
              <a:rPr lang="en-US"/>
              <a:pPr>
                <a:defRPr/>
              </a:pPr>
              <a:t>6/3/2026</a:t>
            </a:fld>
            <a:endParaRPr lang="en-US" dirty="0"/>
          </a:p>
        </p:txBody>
      </p:sp>
      <p:sp>
        <p:nvSpPr>
          <p:cNvPr id="4" name="Footer Placeholder 3"/>
          <p:cNvSpPr>
            <a:spLocks noGrp="1"/>
          </p:cNvSpPr>
          <p:nvPr>
            <p:ph type="ftr" sz="quarter" idx="2"/>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3849688" y="9429750"/>
            <a:ext cx="2946400" cy="495300"/>
          </a:xfrm>
          <a:prstGeom prst="rect">
            <a:avLst/>
          </a:prstGeom>
        </p:spPr>
        <p:txBody>
          <a:bodyPr vert="horz" wrap="square" lIns="95571" tIns="47786" rIns="95571" bIns="47786" numCol="1" anchor="b" anchorCtr="0" compatLnSpc="1">
            <a:prstTxWarp prst="textNoShape">
              <a:avLst/>
            </a:prstTxWarp>
          </a:bodyPr>
          <a:lstStyle>
            <a:lvl1pPr algn="r" eaLnBrk="1" hangingPunct="1">
              <a:defRPr sz="1300" smtClean="0">
                <a:latin typeface="Calibri" pitchFamily="34" charset="0"/>
              </a:defRPr>
            </a:lvl1pPr>
          </a:lstStyle>
          <a:p>
            <a:pPr>
              <a:defRPr/>
            </a:pPr>
            <a:fld id="{2952E2ED-3A02-491C-A9B8-DFEE216EB3A7}" type="slidenum">
              <a:rPr lang="en-US" altLang="en-US"/>
              <a:pPr>
                <a:defRPr/>
              </a:pPr>
              <a:t>‹#›</a:t>
            </a:fld>
            <a:endParaRPr lang="en-US" altLang="en-US"/>
          </a:p>
        </p:txBody>
      </p:sp>
    </p:spTree>
    <p:extLst>
      <p:ext uri="{BB962C8B-B14F-4D97-AF65-F5344CB8AC3E}">
        <p14:creationId xmlns:p14="http://schemas.microsoft.com/office/powerpoint/2010/main" val="189704217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3" name="Date Placeholder 2"/>
          <p:cNvSpPr>
            <a:spLocks noGrp="1"/>
          </p:cNvSpPr>
          <p:nvPr>
            <p:ph type="dt"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extLst/>
          </a:lstStyle>
          <a:p>
            <a:pPr>
              <a:defRPr/>
            </a:pPr>
            <a:fld id="{061F6FC2-9645-479A-A309-27B8F5654211}" type="datetimeFigureOut">
              <a:rPr lang="en-US"/>
              <a:pPr>
                <a:defRPr/>
              </a:pPr>
              <a:t>6/3/2026</a:t>
            </a:fld>
            <a:endParaRPr lang="en-US" dirty="0"/>
          </a:p>
        </p:txBody>
      </p:sp>
      <p:sp>
        <p:nvSpPr>
          <p:cNvPr id="4" name="Slide Image Placeholder 3"/>
          <p:cNvSpPr>
            <a:spLocks noGrp="1" noRot="1" noChangeAspect="1"/>
          </p:cNvSpPr>
          <p:nvPr>
            <p:ph type="sldImg" idx="2"/>
          </p:nvPr>
        </p:nvSpPr>
        <p:spPr>
          <a:xfrm>
            <a:off x="92075" y="746125"/>
            <a:ext cx="6613525" cy="3721100"/>
          </a:xfrm>
          <a:prstGeom prst="rect">
            <a:avLst/>
          </a:prstGeom>
          <a:noFill/>
          <a:ln w="12700">
            <a:solidFill>
              <a:prstClr val="black"/>
            </a:solidFill>
          </a:ln>
        </p:spPr>
        <p:txBody>
          <a:bodyPr vert="horz" lIns="95571" tIns="47786" rIns="95571" bIns="47786" rtlCol="0" anchor="ctr"/>
          <a:lstStyle/>
          <a:p>
            <a:pPr lvl="0"/>
            <a:endParaRPr lang="en-US" noProof="0" dirty="0"/>
          </a:p>
        </p:txBody>
      </p:sp>
      <p:sp>
        <p:nvSpPr>
          <p:cNvPr id="5" name="Notes Placeholder 4"/>
          <p:cNvSpPr>
            <a:spLocks noGrp="1"/>
          </p:cNvSpPr>
          <p:nvPr>
            <p:ph type="body" sz="quarter" idx="3"/>
          </p:nvPr>
        </p:nvSpPr>
        <p:spPr>
          <a:xfrm>
            <a:off x="679450" y="4714875"/>
            <a:ext cx="5438775" cy="4465638"/>
          </a:xfrm>
          <a:prstGeom prst="rect">
            <a:avLst/>
          </a:prstGeom>
        </p:spPr>
        <p:txBody>
          <a:bodyPr vert="horz" lIns="95571" tIns="47786" rIns="95571" bIns="47786"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7" name="Slide Number Placeholder 6"/>
          <p:cNvSpPr>
            <a:spLocks noGrp="1"/>
          </p:cNvSpPr>
          <p:nvPr>
            <p:ph type="sldNum" sz="quarter" idx="5"/>
          </p:nvPr>
        </p:nvSpPr>
        <p:spPr>
          <a:xfrm>
            <a:off x="3849688" y="9429750"/>
            <a:ext cx="2946400" cy="495300"/>
          </a:xfrm>
          <a:prstGeom prst="rect">
            <a:avLst/>
          </a:prstGeom>
        </p:spPr>
        <p:txBody>
          <a:bodyPr vert="horz" wrap="square" lIns="95571" tIns="47786" rIns="95571" bIns="47786" numCol="1" anchor="b" anchorCtr="0" compatLnSpc="1">
            <a:prstTxWarp prst="textNoShape">
              <a:avLst/>
            </a:prstTxWarp>
          </a:bodyPr>
          <a:lstStyle>
            <a:lvl1pPr algn="r" eaLnBrk="1" hangingPunct="1">
              <a:defRPr sz="1300" smtClean="0">
                <a:latin typeface="Calibri" pitchFamily="34" charset="0"/>
              </a:defRPr>
            </a:lvl1pPr>
          </a:lstStyle>
          <a:p>
            <a:pPr>
              <a:defRPr/>
            </a:pPr>
            <a:fld id="{F2D8CC3F-ADB2-4AF7-880C-111F7E6C7FE6}" type="slidenum">
              <a:rPr lang="en-US" altLang="en-US"/>
              <a:pPr>
                <a:defRPr/>
              </a:pPr>
              <a:t>‹#›</a:t>
            </a:fld>
            <a:endParaRPr lang="en-US" altLang="en-US"/>
          </a:p>
        </p:txBody>
      </p:sp>
    </p:spTree>
    <p:extLst>
      <p:ext uri="{BB962C8B-B14F-4D97-AF65-F5344CB8AC3E}">
        <p14:creationId xmlns:p14="http://schemas.microsoft.com/office/powerpoint/2010/main" val="273026457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2914650"/>
            <a:ext cx="6858000" cy="74295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3843338"/>
            <a:ext cx="6858000" cy="40005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4766310"/>
            <a:ext cx="2286000" cy="274320"/>
          </a:xfrm>
        </p:spPr>
        <p:txBody>
          <a:bodyPr/>
          <a:lstStyle>
            <a:lvl1pPr>
              <a:defRPr sz="1400"/>
            </a:lvl1pPr>
          </a:lstStyle>
          <a:p>
            <a:pPr>
              <a:defRPr/>
            </a:pPr>
            <a:r>
              <a:rPr lang="en-US"/>
              <a:t>04/06/2026</a:t>
            </a:r>
            <a:endParaRPr lang="en-US" dirty="0"/>
          </a:p>
        </p:txBody>
      </p:sp>
      <p:sp>
        <p:nvSpPr>
          <p:cNvPr id="17" name="Footer Placeholder 16"/>
          <p:cNvSpPr>
            <a:spLocks noGrp="1"/>
          </p:cNvSpPr>
          <p:nvPr>
            <p:ph type="ftr" sz="quarter" idx="11"/>
          </p:nvPr>
        </p:nvSpPr>
        <p:spPr>
          <a:xfrm>
            <a:off x="2898648" y="4766310"/>
            <a:ext cx="3474720" cy="274320"/>
          </a:xfrm>
        </p:spPr>
        <p:txBody>
          <a:bodyPr/>
          <a:lstStyle/>
          <a:p>
            <a:pPr>
              <a:defRPr/>
            </a:pPr>
            <a:r>
              <a:rPr lang="en-US"/>
              <a:t>END SEMESTER PROJECT REVIEW - APRIL / MAY 2026 </a:t>
            </a:r>
            <a:endParaRPr lang="en-US" dirty="0"/>
          </a:p>
        </p:txBody>
      </p:sp>
      <p:sp>
        <p:nvSpPr>
          <p:cNvPr id="29" name="Slide Number Placeholder 28"/>
          <p:cNvSpPr>
            <a:spLocks noGrp="1"/>
          </p:cNvSpPr>
          <p:nvPr>
            <p:ph type="sldNum" sz="quarter" idx="12"/>
          </p:nvPr>
        </p:nvSpPr>
        <p:spPr>
          <a:xfrm>
            <a:off x="1216152" y="4766310"/>
            <a:ext cx="1219200" cy="274320"/>
          </a:xfrm>
        </p:spPr>
        <p:txBody>
          <a:bodyPr/>
          <a:lstStyle/>
          <a:p>
            <a:pPr>
              <a:defRPr/>
            </a:pPr>
            <a:fld id="{C0A8E10E-36D1-42AB-939C-34BEB33CD9E4}" type="slidenum">
              <a:rPr lang="en-US" altLang="en-US" smtClean="0"/>
              <a:pPr>
                <a:defRPr/>
              </a:pPr>
              <a:t>‹#›</a:t>
            </a:fld>
            <a:endParaRPr lang="en-US" altLang="en-US"/>
          </a:p>
        </p:txBody>
      </p:sp>
      <p:sp>
        <p:nvSpPr>
          <p:cNvPr id="21" name="Rectangle 20"/>
          <p:cNvSpPr/>
          <p:nvPr/>
        </p:nvSpPr>
        <p:spPr>
          <a:xfrm>
            <a:off x="904875" y="2736056"/>
            <a:ext cx="7315200" cy="96012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3786188"/>
            <a:ext cx="7315200" cy="51435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2736056"/>
            <a:ext cx="228600" cy="96012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3786188"/>
            <a:ext cx="228600" cy="51435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ransition spd="slow">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a:defRPr/>
            </a:pPr>
            <a:r>
              <a:rPr lang="en-US"/>
              <a:t>04/06/2026</a:t>
            </a:r>
            <a:endParaRPr lang="en-US" dirty="0"/>
          </a:p>
        </p:txBody>
      </p:sp>
      <p:sp>
        <p:nvSpPr>
          <p:cNvPr id="5" name="Footer Placeholder 4"/>
          <p:cNvSpPr>
            <a:spLocks noGrp="1"/>
          </p:cNvSpPr>
          <p:nvPr>
            <p:ph type="ftr" sz="quarter" idx="11"/>
          </p:nvPr>
        </p:nvSpPr>
        <p:spPr/>
        <p:txBody>
          <a:bodyPr/>
          <a:lstStyle/>
          <a:p>
            <a:pPr>
              <a:defRPr/>
            </a:pPr>
            <a:r>
              <a:rPr lang="en-US"/>
              <a:t>END SEMESTER PROJECT REVIEW - APRIL / MAY 2026 </a:t>
            </a:r>
            <a:endParaRPr lang="en-US" dirty="0"/>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pPr>
                <a:defRPr/>
              </a:pPr>
              <a:t>‹#›</a:t>
            </a:fld>
            <a:endParaRPr lang="en-US" altLang="en-US"/>
          </a:p>
        </p:txBody>
      </p:sp>
      <p:sp>
        <p:nvSpPr>
          <p:cNvPr id="8" name="Content Placeholder 7"/>
          <p:cNvSpPr>
            <a:spLocks noGrp="1"/>
          </p:cNvSpPr>
          <p:nvPr>
            <p:ph sz="quarter" idx="1"/>
          </p:nvPr>
        </p:nvSpPr>
        <p:spPr>
          <a:xfrm>
            <a:off x="457200" y="914400"/>
            <a:ext cx="8229600" cy="37033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spd="slow">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228850"/>
            <a:ext cx="6858000" cy="8001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3200400"/>
            <a:ext cx="6781800" cy="85725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4766310"/>
            <a:ext cx="2286000" cy="274320"/>
          </a:xfrm>
        </p:spPr>
        <p:txBody>
          <a:bodyPr/>
          <a:lstStyle/>
          <a:p>
            <a:pPr>
              <a:defRPr/>
            </a:pPr>
            <a:r>
              <a:rPr lang="en-US"/>
              <a:t>04/06/2026</a:t>
            </a:r>
            <a:endParaRPr lang="en-US" dirty="0"/>
          </a:p>
        </p:txBody>
      </p:sp>
      <p:sp>
        <p:nvSpPr>
          <p:cNvPr id="5" name="Footer Placeholder 4"/>
          <p:cNvSpPr>
            <a:spLocks noGrp="1"/>
          </p:cNvSpPr>
          <p:nvPr>
            <p:ph type="ftr" sz="quarter" idx="11"/>
          </p:nvPr>
        </p:nvSpPr>
        <p:spPr>
          <a:xfrm>
            <a:off x="2898648" y="4766310"/>
            <a:ext cx="3474720" cy="274320"/>
          </a:xfrm>
        </p:spPr>
        <p:txBody>
          <a:bodyPr/>
          <a:lstStyle/>
          <a:p>
            <a:pPr>
              <a:defRPr/>
            </a:pPr>
            <a:r>
              <a:rPr lang="en-US"/>
              <a:t>END SEMESTER PROJECT REVIEW - APRIL / MAY 2026 </a:t>
            </a:r>
            <a:endParaRPr lang="en-US" dirty="0"/>
          </a:p>
        </p:txBody>
      </p:sp>
      <p:sp>
        <p:nvSpPr>
          <p:cNvPr id="6" name="Slide Number Placeholder 5"/>
          <p:cNvSpPr>
            <a:spLocks noGrp="1"/>
          </p:cNvSpPr>
          <p:nvPr>
            <p:ph type="sldNum" sz="quarter" idx="12"/>
          </p:nvPr>
        </p:nvSpPr>
        <p:spPr>
          <a:xfrm>
            <a:off x="1069848" y="4766310"/>
            <a:ext cx="1520952" cy="274320"/>
          </a:xfrm>
        </p:spPr>
        <p:txBody>
          <a:bodyPr/>
          <a:lstStyle/>
          <a:p>
            <a:pPr>
              <a:defRPr/>
            </a:pPr>
            <a:fld id="{BEE0AD74-942B-45F6-8EEE-203197083F56}" type="slidenum">
              <a:rPr lang="en-US" altLang="en-US" smtClean="0"/>
              <a:pPr>
                <a:defRPr/>
              </a:pPr>
              <a:t>‹#›</a:t>
            </a:fld>
            <a:endParaRPr lang="en-US" altLang="en-US"/>
          </a:p>
        </p:txBody>
      </p:sp>
      <p:sp>
        <p:nvSpPr>
          <p:cNvPr id="7" name="Rectangle 6"/>
          <p:cNvSpPr/>
          <p:nvPr/>
        </p:nvSpPr>
        <p:spPr>
          <a:xfrm>
            <a:off x="914400" y="2114550"/>
            <a:ext cx="7315200" cy="96012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114550"/>
            <a:ext cx="228600" cy="96012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spd="slow">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6858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a:defRPr/>
            </a:pPr>
            <a:r>
              <a:rPr lang="en-US"/>
              <a:t>04/06/2026</a:t>
            </a:r>
            <a:endParaRPr lang="en-US" dirty="0"/>
          </a:p>
        </p:txBody>
      </p:sp>
      <p:sp>
        <p:nvSpPr>
          <p:cNvPr id="6" name="Footer Placeholder 5"/>
          <p:cNvSpPr>
            <a:spLocks noGrp="1"/>
          </p:cNvSpPr>
          <p:nvPr>
            <p:ph type="ftr" sz="quarter" idx="11"/>
          </p:nvPr>
        </p:nvSpPr>
        <p:spPr/>
        <p:txBody>
          <a:bodyPr/>
          <a:lstStyle/>
          <a:p>
            <a:pPr>
              <a:defRPr/>
            </a:pPr>
            <a:r>
              <a:rPr lang="en-US"/>
              <a:t>END SEMESTER PROJECT REVIEW - APRIL / MAY 2026 </a:t>
            </a:r>
            <a:endParaRPr lang="en-US" dirty="0"/>
          </a:p>
        </p:txBody>
      </p:sp>
      <p:sp>
        <p:nvSpPr>
          <p:cNvPr id="7" name="Slide Number Placeholder 6"/>
          <p:cNvSpPr>
            <a:spLocks noGrp="1"/>
          </p:cNvSpPr>
          <p:nvPr>
            <p:ph type="sldNum" sz="quarter" idx="12"/>
          </p:nvPr>
        </p:nvSpPr>
        <p:spPr/>
        <p:txBody>
          <a:bodyPr/>
          <a:lstStyle/>
          <a:p>
            <a:pPr>
              <a:defRPr/>
            </a:pPr>
            <a:fld id="{DB554FDC-F986-4516-81A3-5CBC9634E9C1}" type="slidenum">
              <a:rPr lang="en-US" altLang="en-US" smtClean="0"/>
              <a:pPr>
                <a:defRPr/>
              </a:pPr>
              <a:t>‹#›</a:t>
            </a:fld>
            <a:endParaRPr lang="en-US" altLang="en-US"/>
          </a:p>
        </p:txBody>
      </p:sp>
      <p:sp>
        <p:nvSpPr>
          <p:cNvPr id="9" name="Content Placeholder 8"/>
          <p:cNvSpPr>
            <a:spLocks noGrp="1"/>
          </p:cNvSpPr>
          <p:nvPr>
            <p:ph sz="quarter" idx="1"/>
          </p:nvPr>
        </p:nvSpPr>
        <p:spPr>
          <a:xfrm>
            <a:off x="457200" y="914400"/>
            <a:ext cx="4041648" cy="37033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912114"/>
            <a:ext cx="4041648" cy="37033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spd="slow">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6858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964406"/>
            <a:ext cx="4040188" cy="51435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971550"/>
            <a:ext cx="4041775" cy="51435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a:defRPr/>
            </a:pPr>
            <a:r>
              <a:rPr lang="en-US"/>
              <a:t>04/06/2026</a:t>
            </a:r>
            <a:endParaRPr lang="en-US" dirty="0"/>
          </a:p>
        </p:txBody>
      </p:sp>
      <p:sp>
        <p:nvSpPr>
          <p:cNvPr id="8" name="Footer Placeholder 7"/>
          <p:cNvSpPr>
            <a:spLocks noGrp="1"/>
          </p:cNvSpPr>
          <p:nvPr>
            <p:ph type="ftr" sz="quarter" idx="11"/>
          </p:nvPr>
        </p:nvSpPr>
        <p:spPr/>
        <p:txBody>
          <a:bodyPr/>
          <a:lstStyle/>
          <a:p>
            <a:pPr>
              <a:defRPr/>
            </a:pPr>
            <a:r>
              <a:rPr lang="en-US"/>
              <a:t>END SEMESTER PROJECT REVIEW - APRIL / MAY 2026 </a:t>
            </a:r>
            <a:endParaRPr lang="en-US" dirty="0"/>
          </a:p>
        </p:txBody>
      </p:sp>
      <p:sp>
        <p:nvSpPr>
          <p:cNvPr id="9" name="Slide Number Placeholder 8"/>
          <p:cNvSpPr>
            <a:spLocks noGrp="1"/>
          </p:cNvSpPr>
          <p:nvPr>
            <p:ph type="sldNum" sz="quarter" idx="12"/>
          </p:nvPr>
        </p:nvSpPr>
        <p:spPr/>
        <p:txBody>
          <a:bodyPr/>
          <a:lstStyle/>
          <a:p>
            <a:pPr>
              <a:defRPr/>
            </a:pPr>
            <a:fld id="{02A63921-D0A8-45BD-ADF0-24CC5F135FEC}" type="slidenum">
              <a:rPr lang="en-US" altLang="en-US" smtClean="0"/>
              <a:pPr>
                <a:defRPr/>
              </a:pPr>
              <a:t>‹#›</a:t>
            </a:fld>
            <a:endParaRPr lang="en-US" altLang="en-US"/>
          </a:p>
        </p:txBody>
      </p:sp>
      <p:sp>
        <p:nvSpPr>
          <p:cNvPr id="11" name="Content Placeholder 10"/>
          <p:cNvSpPr>
            <a:spLocks noGrp="1"/>
          </p:cNvSpPr>
          <p:nvPr>
            <p:ph sz="quarter" idx="2"/>
          </p:nvPr>
        </p:nvSpPr>
        <p:spPr>
          <a:xfrm>
            <a:off x="457200" y="1600200"/>
            <a:ext cx="4038600" cy="302895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1600200"/>
            <a:ext cx="4038600" cy="302895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spd="slow">
    <p:split orient="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6858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a:defRPr/>
            </a:pPr>
            <a:r>
              <a:rPr lang="en-US"/>
              <a:t>04/06/2026</a:t>
            </a:r>
            <a:endParaRPr lang="en-US" dirty="0"/>
          </a:p>
        </p:txBody>
      </p:sp>
      <p:sp>
        <p:nvSpPr>
          <p:cNvPr id="4" name="Footer Placeholder 3"/>
          <p:cNvSpPr>
            <a:spLocks noGrp="1"/>
          </p:cNvSpPr>
          <p:nvPr>
            <p:ph type="ftr" sz="quarter" idx="11"/>
          </p:nvPr>
        </p:nvSpPr>
        <p:spPr/>
        <p:txBody>
          <a:bodyPr/>
          <a:lstStyle/>
          <a:p>
            <a:pPr>
              <a:defRPr/>
            </a:pPr>
            <a:r>
              <a:rPr lang="en-US"/>
              <a:t>END SEMESTER PROJECT REVIEW - APRIL / MAY 2026 </a:t>
            </a:r>
            <a:endParaRPr lang="en-US" dirty="0"/>
          </a:p>
        </p:txBody>
      </p:sp>
      <p:sp>
        <p:nvSpPr>
          <p:cNvPr id="5" name="Slide Number Placeholder 4"/>
          <p:cNvSpPr>
            <a:spLocks noGrp="1"/>
          </p:cNvSpPr>
          <p:nvPr>
            <p:ph type="sldNum" sz="quarter" idx="12"/>
          </p:nvPr>
        </p:nvSpPr>
        <p:spPr/>
        <p:txBody>
          <a:bodyPr/>
          <a:lstStyle/>
          <a:p>
            <a:pPr>
              <a:defRPr/>
            </a:pPr>
            <a:fld id="{4CE540F1-D866-4735-9E65-A1952EADD02D}" type="slidenum">
              <a:rPr lang="en-US" altLang="en-US" smtClean="0"/>
              <a:pPr>
                <a:defRPr/>
              </a:pPr>
              <a:t>‹#›</a:t>
            </a:fld>
            <a:endParaRPr lang="en-US" altLang="en-US"/>
          </a:p>
        </p:txBody>
      </p:sp>
      <p:sp>
        <p:nvSpPr>
          <p:cNvPr id="6"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ransition spd="slow">
    <p:split orient="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r>
              <a:rPr lang="en-US"/>
              <a:t>04/06/2026</a:t>
            </a:r>
            <a:endParaRPr lang="en-US" dirty="0"/>
          </a:p>
        </p:txBody>
      </p:sp>
      <p:sp>
        <p:nvSpPr>
          <p:cNvPr id="3" name="Footer Placeholder 2"/>
          <p:cNvSpPr>
            <a:spLocks noGrp="1"/>
          </p:cNvSpPr>
          <p:nvPr>
            <p:ph type="ftr" sz="quarter" idx="11"/>
          </p:nvPr>
        </p:nvSpPr>
        <p:spPr/>
        <p:txBody>
          <a:bodyPr/>
          <a:lstStyle/>
          <a:p>
            <a:pPr>
              <a:defRPr/>
            </a:pPr>
            <a:r>
              <a:rPr lang="en-US"/>
              <a:t>END SEMESTER PROJECT REVIEW - APRIL / MAY 2026 </a:t>
            </a:r>
            <a:endParaRPr lang="en-US" dirty="0"/>
          </a:p>
        </p:txBody>
      </p:sp>
      <p:sp>
        <p:nvSpPr>
          <p:cNvPr id="4" name="Slide Number Placeholder 3"/>
          <p:cNvSpPr>
            <a:spLocks noGrp="1"/>
          </p:cNvSpPr>
          <p:nvPr>
            <p:ph type="sldNum" sz="quarter" idx="12"/>
          </p:nvPr>
        </p:nvSpPr>
        <p:spPr/>
        <p:txBody>
          <a:bodyPr/>
          <a:lstStyle/>
          <a:p>
            <a:pPr>
              <a:defRPr/>
            </a:pPr>
            <a:fld id="{2571F5BB-190B-45BA-B754-2541F8CA6F46}" type="slidenum">
              <a:rPr lang="en-US" altLang="en-US" smtClean="0"/>
              <a:pPr>
                <a:defRPr/>
              </a:pPr>
              <a:t>‹#›</a:t>
            </a:fld>
            <a:endParaRPr lang="en-US" altLang="en-US"/>
          </a:p>
        </p:txBody>
      </p:sp>
      <p:sp>
        <p:nvSpPr>
          <p:cNvPr id="5" name="Straight Connector 4"/>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ransition spd="slow">
    <p:split orient="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228600"/>
            <a:ext cx="2514600" cy="62865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914401"/>
            <a:ext cx="2514600" cy="3632597"/>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a:defRPr/>
            </a:pPr>
            <a:r>
              <a:rPr lang="en-US"/>
              <a:t>04/06/2026</a:t>
            </a:r>
            <a:endParaRPr lang="en-US" dirty="0"/>
          </a:p>
        </p:txBody>
      </p:sp>
      <p:sp>
        <p:nvSpPr>
          <p:cNvPr id="6" name="Footer Placeholder 5"/>
          <p:cNvSpPr>
            <a:spLocks noGrp="1"/>
          </p:cNvSpPr>
          <p:nvPr>
            <p:ph type="ftr" sz="quarter" idx="11"/>
          </p:nvPr>
        </p:nvSpPr>
        <p:spPr/>
        <p:txBody>
          <a:bodyPr/>
          <a:lstStyle/>
          <a:p>
            <a:pPr>
              <a:defRPr/>
            </a:pPr>
            <a:r>
              <a:rPr lang="en-US"/>
              <a:t>END SEMESTER PROJECT REVIEW - APRIL / MAY 2026 </a:t>
            </a:r>
            <a:endParaRPr lang="en-US" dirty="0"/>
          </a:p>
        </p:txBody>
      </p:sp>
      <p:sp>
        <p:nvSpPr>
          <p:cNvPr id="7" name="Slide Number Placeholder 6"/>
          <p:cNvSpPr>
            <a:spLocks noGrp="1"/>
          </p:cNvSpPr>
          <p:nvPr>
            <p:ph type="sldNum" sz="quarter" idx="12"/>
          </p:nvPr>
        </p:nvSpPr>
        <p:spPr/>
        <p:txBody>
          <a:bodyPr/>
          <a:lstStyle/>
          <a:p>
            <a:pPr>
              <a:defRPr/>
            </a:pPr>
            <a:fld id="{4B3D1EAA-7E8D-49EA-BCBB-3C5BA424400D}" type="slidenum">
              <a:rPr lang="en-US" altLang="en-US" smtClean="0"/>
              <a:pPr>
                <a:defRPr/>
              </a:pPr>
              <a:t>‹#›</a:t>
            </a:fld>
            <a:endParaRPr lang="en-US" altLang="en-US"/>
          </a:p>
        </p:txBody>
      </p:sp>
      <p:sp>
        <p:nvSpPr>
          <p:cNvPr id="8" name="Straight Connector 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915025" y="2493169"/>
            <a:ext cx="452628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228600"/>
            <a:ext cx="5715000" cy="428625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spd="slow">
    <p:split orient="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375642"/>
            <a:ext cx="8229600" cy="506016"/>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428750"/>
            <a:ext cx="8229600" cy="3202686"/>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914400"/>
            <a:ext cx="8229600" cy="40005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a:defRPr/>
            </a:pPr>
            <a:r>
              <a:rPr lang="en-US"/>
              <a:t>04/06/2026</a:t>
            </a:r>
            <a:endParaRPr lang="en-US" dirty="0"/>
          </a:p>
        </p:txBody>
      </p:sp>
      <p:sp>
        <p:nvSpPr>
          <p:cNvPr id="6" name="Footer Placeholder 5"/>
          <p:cNvSpPr>
            <a:spLocks noGrp="1"/>
          </p:cNvSpPr>
          <p:nvPr>
            <p:ph type="ftr" sz="quarter" idx="11"/>
          </p:nvPr>
        </p:nvSpPr>
        <p:spPr/>
        <p:txBody>
          <a:bodyPr/>
          <a:lstStyle/>
          <a:p>
            <a:pPr>
              <a:defRPr/>
            </a:pPr>
            <a:r>
              <a:rPr lang="en-US"/>
              <a:t>END SEMESTER PROJECT REVIEW - APRIL / MAY 2026 </a:t>
            </a:r>
            <a:endParaRPr lang="en-US" dirty="0"/>
          </a:p>
        </p:txBody>
      </p:sp>
      <p:sp>
        <p:nvSpPr>
          <p:cNvPr id="7" name="Slide Number Placeholder 6"/>
          <p:cNvSpPr>
            <a:spLocks noGrp="1"/>
          </p:cNvSpPr>
          <p:nvPr>
            <p:ph type="sldNum" sz="quarter" idx="12"/>
          </p:nvPr>
        </p:nvSpPr>
        <p:spPr/>
        <p:txBody>
          <a:bodyPr/>
          <a:lstStyle/>
          <a:p>
            <a:pPr>
              <a:defRPr/>
            </a:pPr>
            <a:fld id="{7B93E55C-A662-4067-BE20-A4D82E579A38}" type="slidenum">
              <a:rPr lang="en-US" altLang="en-US" smtClean="0"/>
              <a:pPr>
                <a:defRPr/>
              </a:pPr>
              <a:t>‹#›</a:t>
            </a:fld>
            <a:endParaRPr lang="en-US" altLang="en-US"/>
          </a:p>
        </p:txBody>
      </p:sp>
      <p:sp>
        <p:nvSpPr>
          <p:cNvPr id="8" name="Straight Connector 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375642"/>
            <a:ext cx="182880" cy="51435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spd="slow">
    <p:split orient="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r>
              <a:rPr lang="en-US"/>
              <a:t>04/06/2026</a:t>
            </a:r>
            <a:endParaRPr lang="en-US" dirty="0"/>
          </a:p>
        </p:txBody>
      </p:sp>
      <p:sp>
        <p:nvSpPr>
          <p:cNvPr id="5" name="Footer Placeholder 4"/>
          <p:cNvSpPr>
            <a:spLocks noGrp="1"/>
          </p:cNvSpPr>
          <p:nvPr>
            <p:ph type="ftr" sz="quarter" idx="11"/>
          </p:nvPr>
        </p:nvSpPr>
        <p:spPr/>
        <p:txBody>
          <a:bodyPr/>
          <a:lstStyle/>
          <a:p>
            <a:pPr>
              <a:defRPr/>
            </a:pPr>
            <a:r>
              <a:rPr lang="en-US"/>
              <a:t>END SEMESTER PROJECT REVIEW - APRIL / MAY 2026 </a:t>
            </a:r>
            <a:endParaRPr lang="en-US" dirty="0"/>
          </a:p>
        </p:txBody>
      </p:sp>
      <p:sp>
        <p:nvSpPr>
          <p:cNvPr id="6" name="Slide Number Placeholder 5"/>
          <p:cNvSpPr>
            <a:spLocks noGrp="1"/>
          </p:cNvSpPr>
          <p:nvPr>
            <p:ph type="sldNum" sz="quarter" idx="12"/>
          </p:nvPr>
        </p:nvSpPr>
        <p:spPr/>
        <p:txBody>
          <a:bodyPr/>
          <a:lstStyle/>
          <a:p>
            <a:pPr>
              <a:defRPr/>
            </a:pPr>
            <a:fld id="{9A0C11DA-FA02-4E33-93FC-C378FAF95FBA}" type="slidenum">
              <a:rPr lang="en-US" altLang="en-US" smtClean="0"/>
              <a:pPr>
                <a:defRPr/>
              </a:pPr>
              <a:t>‹#›</a:t>
            </a:fld>
            <a:endParaRPr lang="en-US" altLang="en-US"/>
          </a:p>
        </p:txBody>
      </p:sp>
    </p:spTree>
  </p:cSld>
  <p:clrMapOvr>
    <a:masterClrMapping/>
  </p:clrMapOvr>
  <p:transition spd="slow">
    <p:split orient="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r>
              <a:rPr lang="en-US"/>
              <a:t>04/06/2026</a:t>
            </a:r>
            <a:endParaRPr lang="en-US" dirty="0"/>
          </a:p>
        </p:txBody>
      </p:sp>
      <p:sp>
        <p:nvSpPr>
          <p:cNvPr id="5" name="Footer Placeholder 4"/>
          <p:cNvSpPr>
            <a:spLocks noGrp="1"/>
          </p:cNvSpPr>
          <p:nvPr>
            <p:ph type="ftr" sz="quarter" idx="11"/>
          </p:nvPr>
        </p:nvSpPr>
        <p:spPr/>
        <p:txBody>
          <a:bodyPr/>
          <a:lstStyle/>
          <a:p>
            <a:pPr>
              <a:defRPr/>
            </a:pPr>
            <a:r>
              <a:rPr lang="en-US"/>
              <a:t>END SEMESTER PROJECT REVIEW - APRIL / MAY 2026 </a:t>
            </a:r>
            <a:endParaRPr lang="en-US" dirty="0"/>
          </a:p>
        </p:txBody>
      </p:sp>
      <p:sp>
        <p:nvSpPr>
          <p:cNvPr id="6" name="Slide Number Placeholder 5"/>
          <p:cNvSpPr>
            <a:spLocks noGrp="1"/>
          </p:cNvSpPr>
          <p:nvPr>
            <p:ph type="sldNum" sz="quarter" idx="12"/>
          </p:nvPr>
        </p:nvSpPr>
        <p:spPr/>
        <p:txBody>
          <a:bodyPr/>
          <a:lstStyle/>
          <a:p>
            <a:pPr>
              <a:defRPr/>
            </a:pPr>
            <a:fld id="{B1E085C4-C07B-4C80-B337-90438D59D3CD}" type="slidenum">
              <a:rPr lang="en-US" altLang="en-US" smtClean="0"/>
              <a:pPr>
                <a:defRPr/>
              </a:pPr>
              <a:t>‹#›</a:t>
            </a:fld>
            <a:endParaRPr lang="en-US" altLang="en-US"/>
          </a:p>
        </p:txBody>
      </p:sp>
      <p:sp>
        <p:nvSpPr>
          <p:cNvPr id="7" name="Straight Connector 6"/>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4361127" y="2401464"/>
            <a:ext cx="438912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transition spd="slow">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alphaModFix amt="29000"/>
            <a:lum/>
          </a:blip>
          <a:srcRect/>
          <a:tile tx="0" ty="0" sx="100000" sy="100000" flip="none" algn="tl"/>
        </a:blipFill>
        <a:effectLst/>
      </p:bgPr>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14300"/>
            <a:ext cx="8229600" cy="74295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914400"/>
            <a:ext cx="8229600" cy="3682746"/>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4767263"/>
            <a:ext cx="2289048" cy="274320"/>
          </a:xfrm>
          <a:prstGeom prst="rect">
            <a:avLst/>
          </a:prstGeom>
        </p:spPr>
        <p:txBody>
          <a:bodyPr vert="horz"/>
          <a:lstStyle>
            <a:lvl1pPr algn="l" eaLnBrk="1" latinLnBrk="0" hangingPunct="1">
              <a:defRPr kumimoji="0" sz="1400">
                <a:solidFill>
                  <a:schemeClr val="tx2"/>
                </a:solidFill>
              </a:defRPr>
            </a:lvl1pPr>
          </a:lstStyle>
          <a:p>
            <a:pPr>
              <a:defRPr/>
            </a:pPr>
            <a:r>
              <a:rPr lang="en-US"/>
              <a:t>04/06/2026</a:t>
            </a:r>
            <a:endParaRPr lang="en-US" dirty="0"/>
          </a:p>
        </p:txBody>
      </p:sp>
      <p:sp>
        <p:nvSpPr>
          <p:cNvPr id="3" name="Footer Placeholder 2"/>
          <p:cNvSpPr>
            <a:spLocks noGrp="1"/>
          </p:cNvSpPr>
          <p:nvPr>
            <p:ph type="ftr" sz="quarter" idx="3"/>
          </p:nvPr>
        </p:nvSpPr>
        <p:spPr>
          <a:xfrm>
            <a:off x="2898648" y="4767263"/>
            <a:ext cx="3505200" cy="274320"/>
          </a:xfrm>
          <a:prstGeom prst="rect">
            <a:avLst/>
          </a:prstGeom>
        </p:spPr>
        <p:txBody>
          <a:bodyPr vert="horz"/>
          <a:lstStyle>
            <a:lvl1pPr algn="r" eaLnBrk="1" latinLnBrk="0" hangingPunct="1">
              <a:defRPr kumimoji="0" sz="1400">
                <a:solidFill>
                  <a:schemeClr val="tx2"/>
                </a:solidFill>
              </a:defRPr>
            </a:lvl1pPr>
          </a:lstStyle>
          <a:p>
            <a:pPr>
              <a:defRPr/>
            </a:pPr>
            <a:r>
              <a:rPr lang="en-US"/>
              <a:t>END SEMESTER PROJECT REVIEW - APRIL / MAY 2026 </a:t>
            </a:r>
            <a:endParaRPr lang="en-US" dirty="0"/>
          </a:p>
        </p:txBody>
      </p:sp>
      <p:sp>
        <p:nvSpPr>
          <p:cNvPr id="23" name="Slide Number Placeholder 22"/>
          <p:cNvSpPr>
            <a:spLocks noGrp="1"/>
          </p:cNvSpPr>
          <p:nvPr>
            <p:ph type="sldNum" sz="quarter" idx="4"/>
          </p:nvPr>
        </p:nvSpPr>
        <p:spPr>
          <a:xfrm>
            <a:off x="612648" y="4767263"/>
            <a:ext cx="1981200" cy="274320"/>
          </a:xfrm>
          <a:prstGeom prst="rect">
            <a:avLst/>
          </a:prstGeom>
        </p:spPr>
        <p:txBody>
          <a:bodyPr vert="horz"/>
          <a:lstStyle>
            <a:lvl1pPr algn="l" eaLnBrk="1" latinLnBrk="0" hangingPunct="1">
              <a:defRPr kumimoji="0" sz="1400">
                <a:solidFill>
                  <a:schemeClr val="tx2"/>
                </a:solidFill>
              </a:defRPr>
            </a:lvl1pPr>
          </a:lstStyle>
          <a:p>
            <a:pPr>
              <a:defRPr/>
            </a:pPr>
            <a:fld id="{D78D2778-B29C-49DB-A26C-44F5760A332D}" type="slidenum">
              <a:rPr lang="en-US" altLang="en-US" smtClean="0"/>
              <a:pPr>
                <a:defRPr/>
              </a:pPr>
              <a:t>‹#›</a:t>
            </a:fld>
            <a:endParaRPr lang="en-US" altLang="en-US"/>
          </a:p>
        </p:txBody>
      </p:sp>
      <p:sp>
        <p:nvSpPr>
          <p:cNvPr id="28" name="Straight Connector 2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85725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4143" r:id="rId1"/>
    <p:sldLayoutId id="2147484144" r:id="rId2"/>
    <p:sldLayoutId id="2147484145" r:id="rId3"/>
    <p:sldLayoutId id="2147484146" r:id="rId4"/>
    <p:sldLayoutId id="2147484147" r:id="rId5"/>
    <p:sldLayoutId id="2147484148" r:id="rId6"/>
    <p:sldLayoutId id="2147484149" r:id="rId7"/>
    <p:sldLayoutId id="2147484150" r:id="rId8"/>
    <p:sldLayoutId id="2147484151" r:id="rId9"/>
    <p:sldLayoutId id="2147484152" r:id="rId10"/>
    <p:sldLayoutId id="2147484153" r:id="rId11"/>
  </p:sldLayoutIdLst>
  <p:transition spd="slow">
    <p:split orient="vert"/>
  </p:transition>
  <p:hf hdr="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4000" cy="1052513"/>
          </a:xfrm>
          <a:solidFill>
            <a:schemeClr val="bg2">
              <a:lumMod val="75000"/>
            </a:schemeClr>
          </a:solidFill>
          <a:ln>
            <a:solidFill>
              <a:schemeClr val="tx1"/>
            </a:solidFill>
          </a:ln>
        </p:spPr>
        <p:txBody>
          <a:bodyPr>
            <a:normAutofit fontScale="90000"/>
          </a:bodyPr>
          <a:lstStyle/>
          <a:p>
            <a:pPr algn="ctr">
              <a:defRPr/>
            </a:pPr>
            <a:r>
              <a:rPr lang="en-IN" sz="2800" b="1" dirty="0">
                <a:solidFill>
                  <a:schemeClr val="tx1"/>
                </a:solidFill>
                <a:latin typeface="Times New Roman" pitchFamily="18" charset="0"/>
                <a:cs typeface="Times New Roman" pitchFamily="18" charset="0"/>
              </a:rPr>
              <a:t>CGB1121 – PYTHON PROGRAMMING</a:t>
            </a:r>
            <a:br>
              <a:rPr lang="en-IN" sz="2800" b="1" dirty="0">
                <a:solidFill>
                  <a:schemeClr val="tx1"/>
                </a:solidFill>
                <a:latin typeface="Times New Roman" pitchFamily="18" charset="0"/>
                <a:cs typeface="Times New Roman" pitchFamily="18" charset="0"/>
              </a:rPr>
            </a:br>
            <a:r>
              <a:rPr lang="en-IN" sz="2800" b="1" dirty="0">
                <a:solidFill>
                  <a:schemeClr val="tx1"/>
                </a:solidFill>
                <a:latin typeface="Times New Roman" pitchFamily="18" charset="0"/>
                <a:cs typeface="Times New Roman" pitchFamily="18" charset="0"/>
              </a:rPr>
              <a:t>END SEMESTER PROJECT REVIEW – APRIL/MAY 2026</a:t>
            </a:r>
          </a:p>
        </p:txBody>
      </p:sp>
      <p:sp>
        <p:nvSpPr>
          <p:cNvPr id="7" name="Footer Placeholder 4"/>
          <p:cNvSpPr txBox="1">
            <a:spLocks/>
          </p:cNvSpPr>
          <p:nvPr/>
        </p:nvSpPr>
        <p:spPr>
          <a:xfrm>
            <a:off x="755725" y="1200150"/>
            <a:ext cx="7772400" cy="3505200"/>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defRPr/>
            </a:pPr>
            <a:r>
              <a:rPr lang="en-US" sz="2500" b="1" dirty="0">
                <a:solidFill>
                  <a:schemeClr val="tx1"/>
                </a:solidFill>
                <a:latin typeface="Times New Roman" pitchFamily="18" charset="0"/>
                <a:cs typeface="Times New Roman" pitchFamily="18" charset="0"/>
              </a:rPr>
              <a:t>Department of Computer Science and Engineering</a:t>
            </a:r>
          </a:p>
          <a:p>
            <a:pPr algn="ctr">
              <a:defRPr/>
            </a:pPr>
            <a:r>
              <a:rPr lang="en-US" sz="2500" b="1" dirty="0">
                <a:solidFill>
                  <a:schemeClr val="tx1"/>
                </a:solidFill>
                <a:latin typeface="Times New Roman" pitchFamily="18" charset="0"/>
                <a:cs typeface="Times New Roman" pitchFamily="18" charset="0"/>
              </a:rPr>
              <a:t>Academic Year: 2025 – 2026 (Even Semester)</a:t>
            </a:r>
          </a:p>
          <a:p>
            <a:pPr>
              <a:defRPr/>
            </a:pPr>
            <a:r>
              <a:rPr lang="en-US" sz="2500" b="1" dirty="0">
                <a:solidFill>
                  <a:schemeClr val="tx1"/>
                </a:solidFill>
                <a:latin typeface="Times New Roman" pitchFamily="18" charset="0"/>
                <a:cs typeface="Times New Roman" pitchFamily="18" charset="0"/>
              </a:rPr>
              <a:t>Batch No.				:24</a:t>
            </a:r>
          </a:p>
          <a:p>
            <a:pPr>
              <a:defRPr/>
            </a:pPr>
            <a:r>
              <a:rPr lang="en-US" sz="2500" b="1" dirty="0">
                <a:solidFill>
                  <a:schemeClr val="tx1"/>
                </a:solidFill>
                <a:latin typeface="Times New Roman" pitchFamily="18" charset="0"/>
                <a:cs typeface="Times New Roman" pitchFamily="18" charset="0"/>
              </a:rPr>
              <a:t>Register Number	:927625BCS012, 927625BCS038</a:t>
            </a:r>
          </a:p>
          <a:p>
            <a:pPr>
              <a:defRPr/>
            </a:pPr>
            <a:r>
              <a:rPr lang="en-US" sz="2500" b="1" dirty="0">
                <a:solidFill>
                  <a:schemeClr val="tx1"/>
                </a:solidFill>
                <a:latin typeface="Times New Roman" pitchFamily="18" charset="0"/>
                <a:cs typeface="Times New Roman" pitchFamily="18" charset="0"/>
              </a:rPr>
              <a:t>Name					:ANUSIYA S, EMIMA JENEFAR S</a:t>
            </a:r>
          </a:p>
          <a:p>
            <a:pPr>
              <a:defRPr/>
            </a:pPr>
            <a:r>
              <a:rPr lang="en-US" sz="2500" b="1" dirty="0">
                <a:solidFill>
                  <a:schemeClr val="tx1"/>
                </a:solidFill>
                <a:latin typeface="Times New Roman" pitchFamily="18" charset="0"/>
                <a:cs typeface="Times New Roman" pitchFamily="18" charset="0"/>
              </a:rPr>
              <a:t>Year					: I</a:t>
            </a:r>
          </a:p>
          <a:p>
            <a:pPr>
              <a:defRPr/>
            </a:pPr>
            <a:r>
              <a:rPr lang="en-US" sz="2500" b="1" dirty="0">
                <a:solidFill>
                  <a:schemeClr val="tx1"/>
                </a:solidFill>
                <a:latin typeface="Times New Roman" pitchFamily="18" charset="0"/>
                <a:cs typeface="Times New Roman" pitchFamily="18" charset="0"/>
              </a:rPr>
              <a:t>Semester				: II</a:t>
            </a:r>
          </a:p>
          <a:p>
            <a:pPr>
              <a:defRPr/>
            </a:pPr>
            <a:r>
              <a:rPr lang="en-US" sz="2500" b="1" dirty="0">
                <a:solidFill>
                  <a:schemeClr val="tx1"/>
                </a:solidFill>
                <a:latin typeface="Times New Roman" pitchFamily="18" charset="0"/>
                <a:cs typeface="Times New Roman" pitchFamily="18" charset="0"/>
              </a:rPr>
              <a:t>Section				: A</a:t>
            </a:r>
          </a:p>
          <a:p>
            <a:pPr>
              <a:defRPr/>
            </a:pPr>
            <a:r>
              <a:rPr lang="en-US" sz="2500" b="1" dirty="0">
                <a:solidFill>
                  <a:schemeClr val="tx1"/>
                </a:solidFill>
                <a:latin typeface="Times New Roman" pitchFamily="18" charset="0"/>
                <a:cs typeface="Times New Roman" pitchFamily="18" charset="0"/>
              </a:rPr>
              <a:t>Date					: 04/06/2026</a:t>
            </a:r>
          </a:p>
        </p:txBody>
      </p:sp>
      <p:sp>
        <p:nvSpPr>
          <p:cNvPr id="4" name="Slide Number Placeholder 3"/>
          <p:cNvSpPr>
            <a:spLocks noGrp="1"/>
          </p:cNvSpPr>
          <p:nvPr>
            <p:ph type="sldNum" sz="quarter" idx="12"/>
          </p:nvPr>
        </p:nvSpPr>
        <p:spPr/>
        <p:txBody>
          <a:bodyPr/>
          <a:lstStyle/>
          <a:p>
            <a:pPr>
              <a:defRPr/>
            </a:pPr>
            <a:fld id="{DB554FDC-F986-4516-81A3-5CBC9634E9C1}" type="slidenum">
              <a:rPr lang="en-US" altLang="en-US" smtClean="0"/>
              <a:pPr>
                <a:defRPr/>
              </a:pPr>
              <a:t>1</a:t>
            </a:fld>
            <a:endParaRPr lang="en-US" altLang="en-US"/>
          </a:p>
        </p:txBody>
      </p:sp>
      <p:sp>
        <p:nvSpPr>
          <p:cNvPr id="3" name="Date Placeholder 2">
            <a:extLst>
              <a:ext uri="{FF2B5EF4-FFF2-40B4-BE49-F238E27FC236}">
                <a16:creationId xmlns:a16="http://schemas.microsoft.com/office/drawing/2014/main" id="{483E97C3-DFCD-780B-4804-D47FD9F50330}"/>
              </a:ext>
            </a:extLst>
          </p:cNvPr>
          <p:cNvSpPr>
            <a:spLocks noGrp="1"/>
          </p:cNvSpPr>
          <p:nvPr>
            <p:ph type="dt" sz="half" idx="10"/>
          </p:nvPr>
        </p:nvSpPr>
        <p:spPr>
          <a:xfrm>
            <a:off x="6400800" y="4753520"/>
            <a:ext cx="2289048" cy="274320"/>
          </a:xfrm>
        </p:spPr>
        <p:txBody>
          <a:bodyPr/>
          <a:lstStyle/>
          <a:p>
            <a:pPr>
              <a:defRPr/>
            </a:pPr>
            <a:r>
              <a:rPr lang="en-US"/>
              <a:t>04/06/2026</a:t>
            </a:r>
            <a:endParaRPr lang="en-US" dirty="0"/>
          </a:p>
        </p:txBody>
      </p:sp>
      <p:sp>
        <p:nvSpPr>
          <p:cNvPr id="5" name="Footer Placeholder 4">
            <a:extLst>
              <a:ext uri="{FF2B5EF4-FFF2-40B4-BE49-F238E27FC236}">
                <a16:creationId xmlns:a16="http://schemas.microsoft.com/office/drawing/2014/main" id="{17F35E72-FC03-572B-260A-DB0AF750BC20}"/>
              </a:ext>
            </a:extLst>
          </p:cNvPr>
          <p:cNvSpPr>
            <a:spLocks noGrp="1"/>
          </p:cNvSpPr>
          <p:nvPr>
            <p:ph type="ftr" sz="quarter" idx="11"/>
          </p:nvPr>
        </p:nvSpPr>
        <p:spPr>
          <a:xfrm>
            <a:off x="1371600" y="4767263"/>
            <a:ext cx="4572000" cy="274320"/>
          </a:xfrm>
        </p:spPr>
        <p:txBody>
          <a:bodyPr/>
          <a:lstStyle/>
          <a:p>
            <a:pPr>
              <a:defRPr/>
            </a:pPr>
            <a:r>
              <a:rPr lang="en-US" dirty="0"/>
              <a:t>END SEMESTER PROJECT REVIEW - APRIL / MAY 2026 </a:t>
            </a:r>
          </a:p>
        </p:txBody>
      </p:sp>
    </p:spTree>
  </p:cSld>
  <p:clrMapOvr>
    <a:masterClrMapping/>
  </p:clrMapOvr>
  <p:transition spd="slow">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E05917E-1459-9543-BDC1-EB6757DCCC2B}"/>
              </a:ext>
            </a:extLst>
          </p:cNvPr>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Title of the Project</a:t>
            </a:r>
            <a:endParaRPr lang="en-IN" sz="4000" b="1" dirty="0">
              <a:solidFill>
                <a:schemeClr val="tx1"/>
              </a:solidFill>
              <a:latin typeface="Times New Roman" pitchFamily="18" charset="0"/>
              <a:cs typeface="Times New Roman" pitchFamily="18" charset="0"/>
            </a:endParaRPr>
          </a:p>
        </p:txBody>
      </p:sp>
      <p:sp>
        <p:nvSpPr>
          <p:cNvPr id="4" name="Footer Placeholder 3">
            <a:extLst>
              <a:ext uri="{FF2B5EF4-FFF2-40B4-BE49-F238E27FC236}">
                <a16:creationId xmlns:a16="http://schemas.microsoft.com/office/drawing/2014/main" id="{A59926A3-D6DE-BF77-88C6-09EA205A58DB}"/>
              </a:ext>
            </a:extLst>
          </p:cNvPr>
          <p:cNvSpPr>
            <a:spLocks noGrp="1"/>
          </p:cNvSpPr>
          <p:nvPr>
            <p:ph type="ftr" sz="quarter" idx="11"/>
          </p:nvPr>
        </p:nvSpPr>
        <p:spPr>
          <a:xfrm>
            <a:off x="2438400" y="4767263"/>
            <a:ext cx="4340352" cy="376237"/>
          </a:xfrm>
        </p:spPr>
        <p:txBody>
          <a:bodyPr/>
          <a:lstStyle/>
          <a:p>
            <a:pPr>
              <a:defRPr/>
            </a:pPr>
            <a:r>
              <a:rPr lang="en-US" sz="1200">
                <a:latin typeface="Times New Roman" pitchFamily="18" charset="0"/>
                <a:cs typeface="Times New Roman" pitchFamily="18" charset="0"/>
              </a:rPr>
              <a:t>END SEMESTER PROJECT REVIEW - APRIL / MAY 2026 </a:t>
            </a:r>
            <a:endParaRPr lang="en-US" sz="1200" dirty="0">
              <a:latin typeface="Times New Roman" pitchFamily="18" charset="0"/>
              <a:cs typeface="Times New Roman" pitchFamily="18" charset="0"/>
            </a:endParaRPr>
          </a:p>
        </p:txBody>
      </p:sp>
      <p:sp>
        <p:nvSpPr>
          <p:cNvPr id="8196" name="Slide Number Placeholder 5"/>
          <p:cNvSpPr>
            <a:spLocks noGrp="1" noChangeArrowheads="1"/>
          </p:cNvSpPr>
          <p:nvPr>
            <p:ph type="sldNum" sz="quarter" idx="12"/>
          </p:nvPr>
        </p:nvSpPr>
        <p:spPr bwMode="auto">
          <a:noFill/>
          <a:ln>
            <a:miter lim="800000"/>
            <a:headEnd/>
            <a:tailEnd/>
          </a:ln>
        </p:spPr>
        <p:txBody>
          <a:bodyPr/>
          <a:lstStyle/>
          <a:p>
            <a:fld id="{C8B3AA75-1EA1-4A20-9182-A423EE2FFA8F}" type="slidenum">
              <a:rPr lang="en-US" altLang="en-US"/>
              <a:pPr/>
              <a:t>2</a:t>
            </a:fld>
            <a:endParaRPr lang="en-US" altLang="en-US"/>
          </a:p>
        </p:txBody>
      </p:sp>
      <p:sp>
        <p:nvSpPr>
          <p:cNvPr id="7" name="Footer Placeholder 4"/>
          <p:cNvSpPr txBox="1">
            <a:spLocks/>
          </p:cNvSpPr>
          <p:nvPr/>
        </p:nvSpPr>
        <p:spPr>
          <a:xfrm>
            <a:off x="799641" y="1271071"/>
            <a:ext cx="7772400" cy="1224479"/>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defRPr/>
            </a:pPr>
            <a:endParaRPr lang="en-US" sz="2500" b="1" dirty="0"/>
          </a:p>
        </p:txBody>
      </p:sp>
      <p:sp>
        <p:nvSpPr>
          <p:cNvPr id="6" name="Content Placeholder 2">
            <a:extLst>
              <a:ext uri="{FF2B5EF4-FFF2-40B4-BE49-F238E27FC236}">
                <a16:creationId xmlns:a16="http://schemas.microsoft.com/office/drawing/2014/main" id="{65894BDA-3057-096C-18BB-A0D0D182A5A7}"/>
              </a:ext>
            </a:extLst>
          </p:cNvPr>
          <p:cNvSpPr>
            <a:spLocks noGrp="1"/>
          </p:cNvSpPr>
          <p:nvPr>
            <p:ph sz="quarter" idx="1"/>
          </p:nvPr>
        </p:nvSpPr>
        <p:spPr>
          <a:xfrm>
            <a:off x="457200" y="914400"/>
            <a:ext cx="8229600" cy="3703320"/>
          </a:xfrm>
        </p:spPr>
        <p:txBody>
          <a:bodyPr/>
          <a:lstStyle/>
          <a:p>
            <a:pPr marL="0" indent="0" algn="ctr">
              <a:buNone/>
            </a:pPr>
            <a:r>
              <a:rPr lang="en-US" b="1" dirty="0">
                <a:latin typeface="Times New Roman" pitchFamily="18" charset="0"/>
                <a:cs typeface="Times New Roman" pitchFamily="18" charset="0"/>
              </a:rPr>
              <a:t>CONTACT MANAGEMENT SYSTEM</a:t>
            </a:r>
            <a:endParaRPr lang="en-IN" b="1" dirty="0">
              <a:latin typeface="Times New Roman" pitchFamily="18" charset="0"/>
              <a:cs typeface="Times New Roman" pitchFamily="18" charset="0"/>
            </a:endParaRPr>
          </a:p>
          <a:p>
            <a:endParaRPr lang="en-IN" dirty="0">
              <a:latin typeface="Times New Roman" pitchFamily="18" charset="0"/>
              <a:cs typeface="Times New Roman" pitchFamily="18" charset="0"/>
            </a:endParaRPr>
          </a:p>
        </p:txBody>
      </p:sp>
      <p:sp>
        <p:nvSpPr>
          <p:cNvPr id="2" name="Date Placeholder 1">
            <a:extLst>
              <a:ext uri="{FF2B5EF4-FFF2-40B4-BE49-F238E27FC236}">
                <a16:creationId xmlns:a16="http://schemas.microsoft.com/office/drawing/2014/main" id="{B7CC11E9-3EEE-DFCD-ADD9-65373F063105}"/>
              </a:ext>
            </a:extLst>
          </p:cNvPr>
          <p:cNvSpPr>
            <a:spLocks noGrp="1"/>
          </p:cNvSpPr>
          <p:nvPr>
            <p:ph type="dt" sz="half" idx="10"/>
          </p:nvPr>
        </p:nvSpPr>
        <p:spPr>
          <a:xfrm>
            <a:off x="6798125" y="4767263"/>
            <a:ext cx="2289048" cy="274320"/>
          </a:xfrm>
        </p:spPr>
        <p:txBody>
          <a:bodyPr/>
          <a:lstStyle/>
          <a:p>
            <a:pPr>
              <a:defRPr/>
            </a:pPr>
            <a:r>
              <a:rPr lang="en-US"/>
              <a:t>04/06/2026</a:t>
            </a:r>
            <a:endParaRPr lang="en-US" dirty="0"/>
          </a:p>
        </p:txBody>
      </p:sp>
      <p:pic>
        <p:nvPicPr>
          <p:cNvPr id="9" name="Picture 8">
            <a:extLst>
              <a:ext uri="{FF2B5EF4-FFF2-40B4-BE49-F238E27FC236}">
                <a16:creationId xmlns:a16="http://schemas.microsoft.com/office/drawing/2014/main" id="{F9E0B772-7660-4D76-7508-4C9BB37B261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4375" y="1352550"/>
            <a:ext cx="7715250" cy="3312797"/>
          </a:xfrm>
          <a:prstGeom prst="rect">
            <a:avLst/>
          </a:prstGeom>
        </p:spPr>
      </p:pic>
    </p:spTree>
    <p:extLst>
      <p:ext uri="{BB962C8B-B14F-4D97-AF65-F5344CB8AC3E}">
        <p14:creationId xmlns:p14="http://schemas.microsoft.com/office/powerpoint/2010/main" val="4255157781"/>
      </p:ext>
    </p:extLst>
  </p:cSld>
  <p:clrMapOvr>
    <a:masterClrMapping/>
  </p:clrMapOvr>
  <p:transition spd="slow">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CB552-9064-2022-2FE6-8CF056A213C6}"/>
              </a:ext>
            </a:extLst>
          </p:cNvPr>
          <p:cNvSpPr>
            <a:spLocks noGrp="1"/>
          </p:cNvSpPr>
          <p:nvPr>
            <p:ph type="title"/>
          </p:nvPr>
        </p:nvSpPr>
        <p:spPr>
          <a:xfrm>
            <a:off x="457200" y="209550"/>
            <a:ext cx="8229600" cy="609600"/>
          </a:xfrm>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Abstract</a:t>
            </a:r>
            <a:r>
              <a:rPr lang="en-IN" dirty="0">
                <a:solidFill>
                  <a:schemeClr val="tx1"/>
                </a:solidFill>
                <a:latin typeface="Times New Roman" pitchFamily="18" charset="0"/>
                <a:cs typeface="Times New Roman" pitchFamily="18" charset="0"/>
              </a:rPr>
              <a:t> </a:t>
            </a:r>
            <a:endParaRPr lang="en-IN" sz="4000" dirty="0">
              <a:solidFill>
                <a:schemeClr val="tx1"/>
              </a:solidFill>
              <a:latin typeface="Times New Roman" pitchFamily="18" charset="0"/>
              <a:cs typeface="Times New Roman" pitchFamily="18" charset="0"/>
            </a:endParaRPr>
          </a:p>
        </p:txBody>
      </p:sp>
      <p:sp>
        <p:nvSpPr>
          <p:cNvPr id="5" name="Footer Placeholder 4">
            <a:extLst>
              <a:ext uri="{FF2B5EF4-FFF2-40B4-BE49-F238E27FC236}">
                <a16:creationId xmlns:a16="http://schemas.microsoft.com/office/drawing/2014/main" id="{9F403579-F0D1-E1A9-9626-90D255E99861}"/>
              </a:ext>
            </a:extLst>
          </p:cNvPr>
          <p:cNvSpPr>
            <a:spLocks noGrp="1"/>
          </p:cNvSpPr>
          <p:nvPr>
            <p:ph type="ftr" sz="quarter" idx="11"/>
          </p:nvPr>
        </p:nvSpPr>
        <p:spPr>
          <a:xfrm>
            <a:off x="2438400" y="4767263"/>
            <a:ext cx="4267200" cy="376237"/>
          </a:xfrm>
        </p:spPr>
        <p:txBody>
          <a:bodyPr/>
          <a:lstStyle/>
          <a:p>
            <a:pPr>
              <a:defRPr/>
            </a:pPr>
            <a:r>
              <a:rPr lang="en-US" sz="1200">
                <a:latin typeface="Times New Roman" pitchFamily="18" charset="0"/>
                <a:cs typeface="Times New Roman" pitchFamily="18" charset="0"/>
              </a:rPr>
              <a:t>END SEMESTER PROJECT REVIEW - APRIL / MAY 2026 </a:t>
            </a:r>
            <a:endParaRPr lang="en-US" sz="1200" dirty="0">
              <a:latin typeface="Times New Roman" pitchFamily="18" charset="0"/>
              <a:cs typeface="Times New Roman" pitchFamily="18" charset="0"/>
            </a:endParaRPr>
          </a:p>
        </p:txBody>
      </p:sp>
      <p:sp>
        <p:nvSpPr>
          <p:cNvPr id="6" name="Slide Number Placeholder 5">
            <a:extLst>
              <a:ext uri="{FF2B5EF4-FFF2-40B4-BE49-F238E27FC236}">
                <a16:creationId xmlns:a16="http://schemas.microsoft.com/office/drawing/2014/main" id="{03F0F658-36A0-130D-3974-0382D1967D80}"/>
              </a:ext>
            </a:extLst>
          </p:cNvPr>
          <p:cNvSpPr>
            <a:spLocks noGrp="1"/>
          </p:cNvSpPr>
          <p:nvPr>
            <p:ph type="sldNum" sz="quarter" idx="12"/>
          </p:nvPr>
        </p:nvSpPr>
        <p:spPr/>
        <p:txBody>
          <a:bodyPr/>
          <a:lstStyle/>
          <a:p>
            <a:pPr>
              <a:defRPr/>
            </a:pPr>
            <a:fld id="{0E14ABD8-B1EB-4C07-9937-C8C4E38BDF00}" type="slidenum">
              <a:rPr lang="en-US" altLang="en-US" smtClean="0"/>
              <a:pPr>
                <a:defRPr/>
              </a:pPr>
              <a:t>3</a:t>
            </a:fld>
            <a:endParaRPr lang="en-US" altLang="en-US"/>
          </a:p>
        </p:txBody>
      </p:sp>
      <p:sp>
        <p:nvSpPr>
          <p:cNvPr id="3" name="Content Placeholder 2">
            <a:extLst>
              <a:ext uri="{FF2B5EF4-FFF2-40B4-BE49-F238E27FC236}">
                <a16:creationId xmlns:a16="http://schemas.microsoft.com/office/drawing/2014/main" id="{65894BDA-3057-096C-18BB-A0D0D182A5A7}"/>
              </a:ext>
            </a:extLst>
          </p:cNvPr>
          <p:cNvSpPr>
            <a:spLocks noGrp="1"/>
          </p:cNvSpPr>
          <p:nvPr>
            <p:ph sz="quarter" idx="1"/>
          </p:nvPr>
        </p:nvSpPr>
        <p:spPr>
          <a:xfrm>
            <a:off x="457200" y="748952"/>
            <a:ext cx="8229600" cy="3703320"/>
          </a:xfrm>
        </p:spPr>
        <p:txBody>
          <a:bodyPr>
            <a:noAutofit/>
          </a:bodyPr>
          <a:lstStyle/>
          <a:p>
            <a:pPr marL="0" indent="0" algn="just">
              <a:lnSpc>
                <a:spcPct val="170000"/>
              </a:lnSpc>
              <a:buNone/>
            </a:pPr>
            <a:r>
              <a:rPr lang="en-US" sz="1700" dirty="0">
                <a:latin typeface="Times New Roman" panose="02020603050405020304" pitchFamily="18" charset="0"/>
                <a:cs typeface="Times New Roman" panose="02020603050405020304" pitchFamily="18" charset="0"/>
              </a:rPr>
              <a:t>A Contact Management System is an application designed to store, organize, and manage contact information efficiently. In this project, a Contact Management System is developed using the Python programming language with a graphical user interface (GUI). The system allows users to add, view, update, and delete contact details such as first name, last name, phone number, and email address. The application uses Python libraries to ensure easy interaction and reliable data storage. This project demonstrates the application of Python fundamentals, control structures, functions, and modern tools to solve a real-world data management problem. The developed system reduces manual effort, improves accuracy, and provides a user-friendly platform for managing contacts effectively.</a:t>
            </a:r>
            <a:endParaRPr lang="en-IN" sz="1700" dirty="0">
              <a:latin typeface="Times New Roman" panose="02020603050405020304" pitchFamily="18" charset="0"/>
              <a:cs typeface="Times New Roman" pitchFamily="18" charset="0"/>
            </a:endParaRPr>
          </a:p>
          <a:p>
            <a:pPr marL="0" indent="0" algn="just">
              <a:lnSpc>
                <a:spcPct val="170000"/>
              </a:lnSpc>
              <a:buNone/>
            </a:pPr>
            <a:endParaRPr lang="en-IN" sz="1700" dirty="0">
              <a:latin typeface="Times New Roman" panose="02020603050405020304" pitchFamily="18" charset="0"/>
              <a:cs typeface="Times New Roman" pitchFamily="18" charset="0"/>
            </a:endParaRPr>
          </a:p>
        </p:txBody>
      </p:sp>
      <p:sp>
        <p:nvSpPr>
          <p:cNvPr id="4" name="Date Placeholder 3">
            <a:extLst>
              <a:ext uri="{FF2B5EF4-FFF2-40B4-BE49-F238E27FC236}">
                <a16:creationId xmlns:a16="http://schemas.microsoft.com/office/drawing/2014/main" id="{2ABE26BC-A8B6-10F9-B607-6A22DEE80D46}"/>
              </a:ext>
            </a:extLst>
          </p:cNvPr>
          <p:cNvSpPr>
            <a:spLocks noGrp="1"/>
          </p:cNvSpPr>
          <p:nvPr>
            <p:ph type="dt" sz="half" idx="10"/>
          </p:nvPr>
        </p:nvSpPr>
        <p:spPr>
          <a:xfrm>
            <a:off x="6781800" y="4753299"/>
            <a:ext cx="2289048" cy="274320"/>
          </a:xfrm>
        </p:spPr>
        <p:txBody>
          <a:bodyPr/>
          <a:lstStyle/>
          <a:p>
            <a:pPr>
              <a:defRPr/>
            </a:pPr>
            <a:r>
              <a:rPr lang="en-US"/>
              <a:t>04/06/2026</a:t>
            </a:r>
            <a:endParaRPr lang="en-US" dirty="0"/>
          </a:p>
        </p:txBody>
      </p:sp>
    </p:spTree>
    <p:extLst>
      <p:ext uri="{BB962C8B-B14F-4D97-AF65-F5344CB8AC3E}">
        <p14:creationId xmlns:p14="http://schemas.microsoft.com/office/powerpoint/2010/main" val="875433954"/>
      </p:ext>
    </p:extLst>
  </p:cSld>
  <p:clrMapOvr>
    <a:masterClrMapping/>
  </p:clrMapOvr>
  <p:transition spd="slow">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41D2982-5921-8820-6121-B327A76C2313}"/>
              </a:ext>
            </a:extLst>
          </p:cNvPr>
          <p:cNvSpPr>
            <a:spLocks noGrp="1"/>
          </p:cNvSpPr>
          <p:nvPr>
            <p:ph type="title"/>
          </p:nvPr>
        </p:nvSpPr>
        <p:spPr>
          <a:xfrm>
            <a:off x="685800" y="171450"/>
            <a:ext cx="8001000" cy="495300"/>
          </a:xfrm>
          <a:solidFill>
            <a:schemeClr val="bg2">
              <a:lumMod val="75000"/>
            </a:schemeClr>
          </a:solidFill>
        </p:spPr>
        <p:txBody>
          <a:bodyPr>
            <a:noAutofit/>
          </a:bodyPr>
          <a:lstStyle/>
          <a:p>
            <a:pPr algn="ctr"/>
            <a:r>
              <a:rPr lang="en-IN" b="1" dirty="0">
                <a:solidFill>
                  <a:schemeClr val="tx1"/>
                </a:solidFill>
                <a:latin typeface="Times New Roman" pitchFamily="18" charset="0"/>
                <a:cs typeface="Times New Roman" pitchFamily="18" charset="0"/>
              </a:rPr>
              <a:t>Abstract with CO/PO Mapping</a:t>
            </a:r>
            <a:endParaRPr lang="en-IN" sz="4000" b="1" dirty="0">
              <a:solidFill>
                <a:schemeClr val="tx1"/>
              </a:solidFill>
              <a:latin typeface="Times New Roman" pitchFamily="18" charset="0"/>
              <a:cs typeface="Times New Roman" pitchFamily="18" charset="0"/>
            </a:endParaRPr>
          </a:p>
        </p:txBody>
      </p:sp>
      <p:sp>
        <p:nvSpPr>
          <p:cNvPr id="6" name="Footer Placeholder 5">
            <a:extLst>
              <a:ext uri="{FF2B5EF4-FFF2-40B4-BE49-F238E27FC236}">
                <a16:creationId xmlns:a16="http://schemas.microsoft.com/office/drawing/2014/main" id="{0DFA7D47-ED00-F80D-DBCB-FE3C2E8CD979}"/>
              </a:ext>
            </a:extLst>
          </p:cNvPr>
          <p:cNvSpPr>
            <a:spLocks noGrp="1"/>
          </p:cNvSpPr>
          <p:nvPr>
            <p:ph type="ftr" sz="quarter" idx="11"/>
          </p:nvPr>
        </p:nvSpPr>
        <p:spPr>
          <a:xfrm>
            <a:off x="2362200" y="4767263"/>
            <a:ext cx="4572000" cy="376237"/>
          </a:xfrm>
        </p:spPr>
        <p:txBody>
          <a:bodyPr/>
          <a:lstStyle/>
          <a:p>
            <a:pPr>
              <a:defRPr/>
            </a:pPr>
            <a:r>
              <a:rPr lang="en-US" sz="1200">
                <a:latin typeface="Times New Roman" pitchFamily="18" charset="0"/>
                <a:cs typeface="Times New Roman" pitchFamily="18" charset="0"/>
              </a:rPr>
              <a:t>END SEMESTER PROJECT REVIEW - APRIL / MAY 2026 </a:t>
            </a:r>
            <a:endParaRPr lang="en-US" sz="1200" dirty="0">
              <a:latin typeface="Times New Roman" pitchFamily="18" charset="0"/>
              <a:cs typeface="Times New Roman" pitchFamily="18" charset="0"/>
            </a:endParaRPr>
          </a:p>
        </p:txBody>
      </p:sp>
      <p:sp>
        <p:nvSpPr>
          <p:cNvPr id="8196" name="Slide Number Placeholder 5"/>
          <p:cNvSpPr>
            <a:spLocks noGrp="1" noChangeArrowheads="1"/>
          </p:cNvSpPr>
          <p:nvPr>
            <p:ph type="sldNum" sz="quarter" idx="12"/>
          </p:nvPr>
        </p:nvSpPr>
        <p:spPr bwMode="auto">
          <a:noFill/>
          <a:ln>
            <a:miter lim="800000"/>
            <a:headEnd/>
            <a:tailEnd/>
          </a:ln>
        </p:spPr>
        <p:txBody>
          <a:bodyPr/>
          <a:lstStyle/>
          <a:p>
            <a:fld id="{C8B3AA75-1EA1-4A20-9182-A423EE2FFA8F}" type="slidenum">
              <a:rPr lang="en-US" altLang="en-US"/>
              <a:pPr/>
              <a:t>4</a:t>
            </a:fld>
            <a:endParaRPr lang="en-US" altLang="en-US"/>
          </a:p>
        </p:txBody>
      </p:sp>
      <p:sp>
        <p:nvSpPr>
          <p:cNvPr id="7" name="Footer Placeholder 4"/>
          <p:cNvSpPr txBox="1">
            <a:spLocks/>
          </p:cNvSpPr>
          <p:nvPr/>
        </p:nvSpPr>
        <p:spPr>
          <a:xfrm>
            <a:off x="799641" y="1271071"/>
            <a:ext cx="7772400" cy="1224479"/>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defRPr/>
            </a:pPr>
            <a:endParaRPr lang="en-US" sz="2500" b="1" dirty="0"/>
          </a:p>
        </p:txBody>
      </p:sp>
      <p:graphicFrame>
        <p:nvGraphicFramePr>
          <p:cNvPr id="3" name="Table 2"/>
          <p:cNvGraphicFramePr>
            <a:graphicFrameLocks noGrp="1"/>
          </p:cNvGraphicFramePr>
          <p:nvPr>
            <p:extLst>
              <p:ext uri="{D42A27DB-BD31-4B8C-83A1-F6EECF244321}">
                <p14:modId xmlns:p14="http://schemas.microsoft.com/office/powerpoint/2010/main" val="3714719855"/>
              </p:ext>
            </p:extLst>
          </p:nvPr>
        </p:nvGraphicFramePr>
        <p:xfrm>
          <a:off x="495300" y="1004693"/>
          <a:ext cx="8153400" cy="3486734"/>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438734">
                <a:tc>
                  <a:txBody>
                    <a:bodyPr/>
                    <a:lstStyle/>
                    <a:p>
                      <a:pPr algn="ctr"/>
                      <a:r>
                        <a:rPr lang="en-US" sz="1800" dirty="0">
                          <a:solidFill>
                            <a:schemeClr val="tx1"/>
                          </a:solidFill>
                          <a:latin typeface="Times New Roman" pitchFamily="18" charset="0"/>
                          <a:cs typeface="Times New Roman" pitchFamily="18" charset="0"/>
                        </a:rPr>
                        <a:t>Abstract</a:t>
                      </a:r>
                    </a:p>
                  </a:txBody>
                  <a:tcPr>
                    <a:solidFill>
                      <a:schemeClr val="bg2"/>
                    </a:solidFill>
                  </a:tcPr>
                </a:tc>
                <a:tc>
                  <a:txBody>
                    <a:bodyPr/>
                    <a:lstStyle/>
                    <a:p>
                      <a:pPr algn="ctr"/>
                      <a:r>
                        <a:rPr lang="en-US" sz="1800" dirty="0">
                          <a:solidFill>
                            <a:schemeClr val="tx1"/>
                          </a:solidFill>
                          <a:latin typeface="Times New Roman" pitchFamily="18" charset="0"/>
                          <a:cs typeface="Times New Roman" pitchFamily="18" charset="0"/>
                        </a:rPr>
                        <a:t>CO</a:t>
                      </a:r>
                    </a:p>
                  </a:txBody>
                  <a:tcPr>
                    <a:solidFill>
                      <a:schemeClr val="bg2"/>
                    </a:solidFill>
                  </a:tcPr>
                </a:tc>
                <a:tc>
                  <a:txBody>
                    <a:bodyPr/>
                    <a:lstStyle/>
                    <a:p>
                      <a:pPr algn="ctr"/>
                      <a:r>
                        <a:rPr lang="en-US" sz="1800" dirty="0">
                          <a:solidFill>
                            <a:schemeClr val="tx1"/>
                          </a:solidFill>
                          <a:latin typeface="Times New Roman" pitchFamily="18" charset="0"/>
                          <a:cs typeface="Times New Roman" pitchFamily="18" charset="0"/>
                        </a:rPr>
                        <a:t>POs</a:t>
                      </a:r>
                    </a:p>
                  </a:txBody>
                  <a:tcPr>
                    <a:solidFill>
                      <a:schemeClr val="bg2"/>
                    </a:solidFill>
                  </a:tcPr>
                </a:tc>
                <a:tc>
                  <a:txBody>
                    <a:bodyPr/>
                    <a:lstStyle/>
                    <a:p>
                      <a:pPr algn="ctr"/>
                      <a:r>
                        <a:rPr lang="en-US" sz="1800" dirty="0">
                          <a:solidFill>
                            <a:schemeClr val="tx1"/>
                          </a:solidFill>
                          <a:latin typeface="Times New Roman" pitchFamily="18" charset="0"/>
                          <a:cs typeface="Times New Roman" pitchFamily="18" charset="0"/>
                        </a:rPr>
                        <a:t>PSO</a:t>
                      </a:r>
                    </a:p>
                  </a:txBody>
                  <a:tcPr>
                    <a:solidFill>
                      <a:schemeClr val="bg2"/>
                    </a:solidFill>
                  </a:tcPr>
                </a:tc>
                <a:extLst>
                  <a:ext uri="{0D108BD9-81ED-4DB2-BD59-A6C34878D82A}">
                    <a16:rowId xmlns:a16="http://schemas.microsoft.com/office/drawing/2014/main" val="10000"/>
                  </a:ext>
                </a:extLst>
              </a:tr>
              <a:tr h="2799768">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500" dirty="0">
                          <a:latin typeface="Times New Roman" panose="02020603050405020304" pitchFamily="18" charset="0"/>
                          <a:cs typeface="Times New Roman" panose="02020603050405020304" pitchFamily="18" charset="0"/>
                        </a:rPr>
                        <a:t>A Contact Management System is an application designed to store, organize, and manage contact information efficiently. In this project, a Contact Management System is developed using the Python programming language with a graphical user interface (GUI). The system allows users to add, view, update, and delete contact details such as first name, last name, phone number, and email address. The application uses Python libraries to ensure easy interaction and reliable data storage. This project demonstrates the application of Python fundamentals, control structures, functions, and modern tools to solve a real-world data management problem. The developed system reduces manual effort, improves accuracy, and provides a user-friendly platform for managing contacts effectively.</a:t>
                      </a:r>
                      <a:endParaRPr lang="en-US" sz="1500" dirty="0">
                        <a:solidFill>
                          <a:schemeClr val="tx1"/>
                        </a:solidFill>
                        <a:latin typeface="Times New Roman" pitchFamily="18" charset="0"/>
                        <a:cs typeface="Times New Roman" pitchFamily="18" charset="0"/>
                      </a:endParaRPr>
                    </a:p>
                    <a:p>
                      <a:endParaRPr lang="en-US" sz="1400" dirty="0">
                        <a:solidFill>
                          <a:schemeClr val="tx1"/>
                        </a:solidFill>
                        <a:latin typeface="Times New Roman" pitchFamily="18" charset="0"/>
                        <a:cs typeface="Times New Roman" pitchFamily="18" charset="0"/>
                      </a:endParaRPr>
                    </a:p>
                  </a:txBody>
                  <a:tcPr>
                    <a:solidFill>
                      <a:schemeClr val="bg2"/>
                    </a:solidFill>
                  </a:tcPr>
                </a:tc>
                <a:tc>
                  <a:txBody>
                    <a:bodyPr/>
                    <a:lstStyle/>
                    <a:p>
                      <a:pPr algn="just"/>
                      <a:r>
                        <a:rPr lang="en-US" sz="1800" b="1" dirty="0">
                          <a:solidFill>
                            <a:schemeClr val="tx1"/>
                          </a:solidFill>
                          <a:latin typeface="Times New Roman" pitchFamily="18" charset="0"/>
                          <a:cs typeface="Times New Roman" pitchFamily="18" charset="0"/>
                        </a:rPr>
                        <a:t>CO1</a:t>
                      </a:r>
                    </a:p>
                    <a:p>
                      <a:pPr algn="just"/>
                      <a:r>
                        <a:rPr lang="en-US" sz="1800" b="1" dirty="0">
                          <a:solidFill>
                            <a:schemeClr val="tx1"/>
                          </a:solidFill>
                          <a:latin typeface="Times New Roman" pitchFamily="18" charset="0"/>
                          <a:cs typeface="Times New Roman" pitchFamily="18" charset="0"/>
                        </a:rPr>
                        <a:t>CO2</a:t>
                      </a:r>
                    </a:p>
                    <a:p>
                      <a:pPr algn="just"/>
                      <a:r>
                        <a:rPr lang="en-US" sz="1800" b="1" dirty="0">
                          <a:solidFill>
                            <a:schemeClr val="tx1"/>
                          </a:solidFill>
                          <a:latin typeface="Times New Roman" pitchFamily="18" charset="0"/>
                          <a:cs typeface="Times New Roman" pitchFamily="18" charset="0"/>
                        </a:rPr>
                        <a:t>CO3</a:t>
                      </a:r>
                    </a:p>
                    <a:p>
                      <a:pPr algn="just"/>
                      <a:r>
                        <a:rPr lang="en-US" sz="1800" b="1" dirty="0">
                          <a:solidFill>
                            <a:schemeClr val="tx1"/>
                          </a:solidFill>
                          <a:latin typeface="Times New Roman" pitchFamily="18" charset="0"/>
                          <a:cs typeface="Times New Roman" pitchFamily="18" charset="0"/>
                        </a:rPr>
                        <a:t>CO5</a:t>
                      </a:r>
                    </a:p>
                    <a:p>
                      <a:endParaRPr lang="en-US" sz="1800" dirty="0">
                        <a:solidFill>
                          <a:schemeClr val="tx1"/>
                        </a:solidFill>
                        <a:latin typeface="Times New Roman" pitchFamily="18" charset="0"/>
                        <a:cs typeface="Times New Roman" pitchFamily="18" charset="0"/>
                      </a:endParaRPr>
                    </a:p>
                  </a:txBody>
                  <a:tcPr>
                    <a:solidFill>
                      <a:schemeClr val="bg2"/>
                    </a:solidFill>
                  </a:tcPr>
                </a:tc>
                <a:tc>
                  <a:txBody>
                    <a:bodyPr/>
                    <a:lstStyle/>
                    <a:p>
                      <a:pPr algn="just"/>
                      <a:r>
                        <a:rPr lang="pl-PL" sz="1600" b="1" dirty="0">
                          <a:latin typeface="Times New Roman" panose="02020603050405020304" pitchFamily="18" charset="0"/>
                          <a:cs typeface="Times New Roman" panose="02020603050405020304" pitchFamily="18" charset="0"/>
                        </a:rPr>
                        <a:t>PO1</a:t>
                      </a:r>
                      <a:r>
                        <a:rPr lang="en-US" sz="1600" b="1" dirty="0">
                          <a:latin typeface="Times New Roman" panose="02020603050405020304" pitchFamily="18" charset="0"/>
                          <a:cs typeface="Times New Roman" panose="02020603050405020304" pitchFamily="18" charset="0"/>
                        </a:rPr>
                        <a:t>(2)</a:t>
                      </a:r>
                      <a:r>
                        <a:rPr lang="pl-PL" sz="1600" b="1" dirty="0">
                          <a:latin typeface="Times New Roman" panose="02020603050405020304" pitchFamily="18" charset="0"/>
                          <a:cs typeface="Times New Roman" panose="02020603050405020304" pitchFamily="18" charset="0"/>
                        </a:rPr>
                        <a:t> PO2</a:t>
                      </a:r>
                      <a:r>
                        <a:rPr lang="en-US" sz="1600" b="1" dirty="0">
                          <a:latin typeface="Times New Roman" panose="02020603050405020304" pitchFamily="18" charset="0"/>
                          <a:cs typeface="Times New Roman" panose="02020603050405020304" pitchFamily="18" charset="0"/>
                        </a:rPr>
                        <a:t>(3)</a:t>
                      </a:r>
                      <a:r>
                        <a:rPr lang="pl-PL" sz="1600" b="1" dirty="0">
                          <a:latin typeface="Times New Roman" panose="02020603050405020304" pitchFamily="18" charset="0"/>
                          <a:cs typeface="Times New Roman" panose="02020603050405020304" pitchFamily="18" charset="0"/>
                        </a:rPr>
                        <a:t>PO3</a:t>
                      </a:r>
                      <a:r>
                        <a:rPr lang="en-US" sz="1600" b="1" dirty="0">
                          <a:latin typeface="Times New Roman" panose="02020603050405020304" pitchFamily="18" charset="0"/>
                          <a:cs typeface="Times New Roman" panose="02020603050405020304" pitchFamily="18" charset="0"/>
                        </a:rPr>
                        <a:t>(2)</a:t>
                      </a:r>
                      <a:r>
                        <a:rPr lang="pl-PL" sz="1600" b="1" dirty="0">
                          <a:latin typeface="Times New Roman" panose="02020603050405020304" pitchFamily="18" charset="0"/>
                          <a:cs typeface="Times New Roman" panose="02020603050405020304" pitchFamily="18" charset="0"/>
                        </a:rPr>
                        <a:t> PO5</a:t>
                      </a:r>
                      <a:r>
                        <a:rPr lang="en-US" sz="1600" b="1" dirty="0">
                          <a:latin typeface="Times New Roman" panose="02020603050405020304" pitchFamily="18" charset="0"/>
                          <a:cs typeface="Times New Roman" panose="02020603050405020304" pitchFamily="18" charset="0"/>
                        </a:rPr>
                        <a:t>(2)</a:t>
                      </a:r>
                    </a:p>
                    <a:p>
                      <a:pPr algn="just"/>
                      <a:r>
                        <a:rPr lang="en-US" sz="1600" b="1" dirty="0">
                          <a:latin typeface="Times New Roman" panose="02020603050405020304" pitchFamily="18" charset="0"/>
                          <a:cs typeface="Times New Roman" panose="02020603050405020304" pitchFamily="18" charset="0"/>
                        </a:rPr>
                        <a:t>PO7(1)</a:t>
                      </a:r>
                    </a:p>
                    <a:p>
                      <a:pPr algn="just"/>
                      <a:r>
                        <a:rPr lang="en-US" sz="1600" b="1" dirty="0">
                          <a:latin typeface="Times New Roman" panose="02020603050405020304" pitchFamily="18" charset="0"/>
                          <a:cs typeface="Times New Roman" panose="02020603050405020304" pitchFamily="18" charset="0"/>
                        </a:rPr>
                        <a:t>PO8(2)</a:t>
                      </a:r>
                    </a:p>
                    <a:p>
                      <a:pPr algn="just"/>
                      <a:r>
                        <a:rPr lang="en-US" sz="1600" b="1" dirty="0">
                          <a:latin typeface="Times New Roman" panose="02020603050405020304" pitchFamily="18" charset="0"/>
                          <a:cs typeface="Times New Roman" panose="02020603050405020304" pitchFamily="18" charset="0"/>
                        </a:rPr>
                        <a:t>PO9(2)</a:t>
                      </a:r>
                      <a:r>
                        <a:rPr lang="pl-PL" sz="1600" b="1" dirty="0">
                          <a:latin typeface="Times New Roman" panose="02020603050405020304" pitchFamily="18" charset="0"/>
                          <a:cs typeface="Times New Roman" panose="02020603050405020304" pitchFamily="18" charset="0"/>
                        </a:rPr>
                        <a:t> PO10</a:t>
                      </a:r>
                      <a:r>
                        <a:rPr lang="en-US" sz="1600" b="1" dirty="0">
                          <a:latin typeface="Times New Roman" panose="02020603050405020304" pitchFamily="18" charset="0"/>
                          <a:cs typeface="Times New Roman" panose="02020603050405020304" pitchFamily="18" charset="0"/>
                        </a:rPr>
                        <a:t>(1)</a:t>
                      </a:r>
                    </a:p>
                    <a:p>
                      <a:pPr algn="just"/>
                      <a:r>
                        <a:rPr lang="en-US" sz="1600" b="1" dirty="0">
                          <a:latin typeface="Times New Roman" panose="02020603050405020304" pitchFamily="18" charset="0"/>
                          <a:cs typeface="Times New Roman" panose="02020603050405020304" pitchFamily="18" charset="0"/>
                        </a:rPr>
                        <a:t>PO11(3)</a:t>
                      </a:r>
                    </a:p>
                    <a:p>
                      <a:pPr algn="just"/>
                      <a:r>
                        <a:rPr lang="pl-PL" sz="1600" b="1" dirty="0">
                          <a:latin typeface="Times New Roman" panose="02020603050405020304" pitchFamily="18" charset="0"/>
                          <a:cs typeface="Times New Roman" panose="02020603050405020304" pitchFamily="18" charset="0"/>
                        </a:rPr>
                        <a:t>PO12</a:t>
                      </a:r>
                      <a:r>
                        <a:rPr lang="en-US" sz="1600" b="1" dirty="0">
                          <a:solidFill>
                            <a:schemeClr val="tx1"/>
                          </a:solidFill>
                          <a:latin typeface="Times New Roman" pitchFamily="18" charset="0"/>
                          <a:cs typeface="Times New Roman" pitchFamily="18" charset="0"/>
                        </a:rPr>
                        <a:t>(3)</a:t>
                      </a:r>
                    </a:p>
                  </a:txBody>
                  <a:tcPr>
                    <a:solidFill>
                      <a:schemeClr val="bg2"/>
                    </a:solidFill>
                  </a:tcPr>
                </a:tc>
                <a:tc>
                  <a:txBody>
                    <a:bodyPr/>
                    <a:lstStyle/>
                    <a:p>
                      <a:r>
                        <a:rPr lang="en-IN" sz="1600" b="1" dirty="0">
                          <a:latin typeface="Times New Roman" panose="02020603050405020304" pitchFamily="18" charset="0"/>
                          <a:cs typeface="Times New Roman" panose="02020603050405020304" pitchFamily="18" charset="0"/>
                        </a:rPr>
                        <a:t>PSO1 PSO2</a:t>
                      </a:r>
                      <a:endParaRPr lang="en-US" sz="1600" dirty="0">
                        <a:solidFill>
                          <a:schemeClr val="tx1"/>
                        </a:solidFill>
                        <a:latin typeface="Times New Roman" pitchFamily="18" charset="0"/>
                        <a:cs typeface="Times New Roman" pitchFamily="18" charset="0"/>
                      </a:endParaRPr>
                    </a:p>
                  </a:txBody>
                  <a:tcPr>
                    <a:solidFill>
                      <a:schemeClr val="bg2"/>
                    </a:solidFill>
                  </a:tcPr>
                </a:tc>
                <a:extLst>
                  <a:ext uri="{0D108BD9-81ED-4DB2-BD59-A6C34878D82A}">
                    <a16:rowId xmlns:a16="http://schemas.microsoft.com/office/drawing/2014/main" val="10001"/>
                  </a:ext>
                </a:extLst>
              </a:tr>
            </a:tbl>
          </a:graphicData>
        </a:graphic>
      </p:graphicFrame>
      <p:sp>
        <p:nvSpPr>
          <p:cNvPr id="2" name="Date Placeholder 1">
            <a:extLst>
              <a:ext uri="{FF2B5EF4-FFF2-40B4-BE49-F238E27FC236}">
                <a16:creationId xmlns:a16="http://schemas.microsoft.com/office/drawing/2014/main" id="{AE48DE5B-F7D4-D64A-6AA3-5416C14F9E44}"/>
              </a:ext>
            </a:extLst>
          </p:cNvPr>
          <p:cNvSpPr>
            <a:spLocks noGrp="1"/>
          </p:cNvSpPr>
          <p:nvPr>
            <p:ph type="dt" sz="half" idx="10"/>
          </p:nvPr>
        </p:nvSpPr>
        <p:spPr>
          <a:xfrm>
            <a:off x="6901912" y="4767263"/>
            <a:ext cx="2289048" cy="274320"/>
          </a:xfrm>
        </p:spPr>
        <p:txBody>
          <a:bodyPr/>
          <a:lstStyle/>
          <a:p>
            <a:pPr>
              <a:defRPr/>
            </a:pPr>
            <a:r>
              <a:rPr lang="en-US"/>
              <a:t>04/06/2026</a:t>
            </a:r>
            <a:endParaRPr lang="en-US" dirty="0"/>
          </a:p>
        </p:txBody>
      </p:sp>
    </p:spTree>
    <p:extLst>
      <p:ext uri="{BB962C8B-B14F-4D97-AF65-F5344CB8AC3E}">
        <p14:creationId xmlns:p14="http://schemas.microsoft.com/office/powerpoint/2010/main" val="1162144124"/>
      </p:ext>
    </p:extLst>
  </p:cSld>
  <p:clrMapOvr>
    <a:masterClrMapping/>
  </p:clrMapOvr>
  <p:transition spd="slow">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F4323-5210-80A9-6891-2FD74992CE91}"/>
              </a:ext>
            </a:extLst>
          </p:cNvPr>
          <p:cNvSpPr>
            <a:spLocks noGrp="1"/>
          </p:cNvSpPr>
          <p:nvPr>
            <p:ph type="title"/>
          </p:nvPr>
        </p:nvSpPr>
        <p:spPr>
          <a:xfrm>
            <a:off x="457200" y="285750"/>
            <a:ext cx="8229600" cy="457200"/>
          </a:xfrm>
          <a:solidFill>
            <a:schemeClr val="bg2">
              <a:lumMod val="75000"/>
            </a:schemeClr>
          </a:solidFill>
        </p:spPr>
        <p:txBody>
          <a:bodyPr>
            <a:noAutofit/>
          </a:bodyPr>
          <a:lstStyle/>
          <a:p>
            <a:pPr algn="ctr"/>
            <a:r>
              <a:rPr lang="en-IN" b="1" dirty="0">
                <a:solidFill>
                  <a:schemeClr val="tx1"/>
                </a:solidFill>
                <a:latin typeface="Times New Roman" pitchFamily="18" charset="0"/>
                <a:cs typeface="Times New Roman" pitchFamily="18" charset="0"/>
              </a:rPr>
              <a:t>Introduction</a:t>
            </a:r>
            <a:endParaRPr lang="en-IN" sz="4000" b="1" dirty="0">
              <a:solidFill>
                <a:schemeClr val="tx1"/>
              </a:solidFill>
              <a:latin typeface="Times New Roman" pitchFamily="18" charset="0"/>
              <a:cs typeface="Times New Roman" pitchFamily="18" charset="0"/>
            </a:endParaRPr>
          </a:p>
        </p:txBody>
      </p:sp>
      <p:sp>
        <p:nvSpPr>
          <p:cNvPr id="5" name="Footer Placeholder 4">
            <a:extLst>
              <a:ext uri="{FF2B5EF4-FFF2-40B4-BE49-F238E27FC236}">
                <a16:creationId xmlns:a16="http://schemas.microsoft.com/office/drawing/2014/main" id="{CC405221-347E-9CCD-BA88-4C53ECC3746E}"/>
              </a:ext>
            </a:extLst>
          </p:cNvPr>
          <p:cNvSpPr>
            <a:spLocks noGrp="1"/>
          </p:cNvSpPr>
          <p:nvPr>
            <p:ph type="ftr" sz="quarter" idx="11"/>
          </p:nvPr>
        </p:nvSpPr>
        <p:spPr>
          <a:xfrm>
            <a:off x="2362200" y="4767263"/>
            <a:ext cx="4495800" cy="376237"/>
          </a:xfrm>
        </p:spPr>
        <p:txBody>
          <a:bodyPr/>
          <a:lstStyle/>
          <a:p>
            <a:pPr>
              <a:defRPr/>
            </a:pPr>
            <a:r>
              <a:rPr lang="en-US" sz="1200">
                <a:latin typeface="Times New Roman" pitchFamily="18" charset="0"/>
                <a:cs typeface="Times New Roman" pitchFamily="18" charset="0"/>
              </a:rPr>
              <a:t>END SEMESTER PROJECT REVIEW - APRIL / MAY 2026 </a:t>
            </a:r>
            <a:endParaRPr lang="en-US" sz="1200" dirty="0">
              <a:latin typeface="Times New Roman" pitchFamily="18" charset="0"/>
              <a:cs typeface="Times New Roman" pitchFamily="18" charset="0"/>
            </a:endParaRPr>
          </a:p>
        </p:txBody>
      </p:sp>
      <p:sp>
        <p:nvSpPr>
          <p:cNvPr id="6" name="Slide Number Placeholder 5">
            <a:extLst>
              <a:ext uri="{FF2B5EF4-FFF2-40B4-BE49-F238E27FC236}">
                <a16:creationId xmlns:a16="http://schemas.microsoft.com/office/drawing/2014/main" id="{921C23A5-3836-E986-E59E-625D0AB8CE91}"/>
              </a:ext>
            </a:extLst>
          </p:cNvPr>
          <p:cNvSpPr>
            <a:spLocks noGrp="1"/>
          </p:cNvSpPr>
          <p:nvPr>
            <p:ph type="sldNum" sz="quarter" idx="12"/>
          </p:nvPr>
        </p:nvSpPr>
        <p:spPr/>
        <p:txBody>
          <a:bodyPr/>
          <a:lstStyle/>
          <a:p>
            <a:pPr>
              <a:defRPr/>
            </a:pPr>
            <a:fld id="{0E14ABD8-B1EB-4C07-9937-C8C4E38BDF00}" type="slidenum">
              <a:rPr lang="en-US" altLang="en-US" smtClean="0"/>
              <a:pPr>
                <a:defRPr/>
              </a:pPr>
              <a:t>5</a:t>
            </a:fld>
            <a:endParaRPr lang="en-US" altLang="en-US"/>
          </a:p>
        </p:txBody>
      </p:sp>
      <p:sp>
        <p:nvSpPr>
          <p:cNvPr id="3" name="Content Placeholder 2">
            <a:extLst>
              <a:ext uri="{FF2B5EF4-FFF2-40B4-BE49-F238E27FC236}">
                <a16:creationId xmlns:a16="http://schemas.microsoft.com/office/drawing/2014/main" id="{5753BF69-1C78-F823-3EFC-69FA8564C97F}"/>
              </a:ext>
            </a:extLst>
          </p:cNvPr>
          <p:cNvSpPr>
            <a:spLocks noGrp="1"/>
          </p:cNvSpPr>
          <p:nvPr>
            <p:ph sz="quarter" idx="1"/>
          </p:nvPr>
        </p:nvSpPr>
        <p:spPr>
          <a:xfrm>
            <a:off x="457200" y="742950"/>
            <a:ext cx="8229600" cy="3703320"/>
          </a:xfrm>
        </p:spPr>
        <p:txBody>
          <a:bodyPr>
            <a:noAutofit/>
          </a:bodyPr>
          <a:lstStyle/>
          <a:p>
            <a:pPr marL="0" indent="0" algn="just">
              <a:lnSpc>
                <a:spcPct val="170000"/>
              </a:lnSpc>
              <a:buNone/>
            </a:pPr>
            <a:r>
              <a:rPr lang="en-US" sz="1500" dirty="0">
                <a:latin typeface="Times New Roman" panose="02020603050405020304" pitchFamily="18" charset="0"/>
                <a:cs typeface="Times New Roman" panose="02020603050405020304" pitchFamily="18" charset="0"/>
              </a:rPr>
              <a:t>In today’s digital world, managing contact information manually is inefficient and error-prone. With the increasing number of personal and professional contacts, there is a need for an organized and computerized system to store and retrieve contact details easily. A Contact Management System helps users maintain contact information in a structured and secure manner. This project focuses on developing a Contact Management System using Python. The system provides basic operations such as adding new contacts, viewing existing contacts, updating contact details, and deleting unwanted records. A graphical user interface is designed to make the application simple and easy to use for users with minimal technical knowledge. The project highlights the practical use of Python programming concepts and libraries in developing a real-time application, thereby enhancing problem-solving skills and application development knowledge.</a:t>
            </a:r>
          </a:p>
          <a:p>
            <a:pPr marL="0" indent="0" algn="just">
              <a:lnSpc>
                <a:spcPct val="170000"/>
              </a:lnSpc>
              <a:buNone/>
            </a:pPr>
            <a:endParaRPr lang="en-IN" sz="1500" dirty="0">
              <a:latin typeface="Times New Roman" panose="02020603050405020304" pitchFamily="18" charset="0"/>
              <a:cs typeface="Times New Roman" pitchFamily="18" charset="0"/>
            </a:endParaRPr>
          </a:p>
          <a:p>
            <a:pPr marL="0" indent="0" algn="just">
              <a:buNone/>
            </a:pPr>
            <a:endParaRPr lang="en-IN" sz="1500" dirty="0">
              <a:latin typeface="Times New Roman" panose="02020603050405020304" pitchFamily="18" charset="0"/>
              <a:cs typeface="Times New Roman" pitchFamily="18" charset="0"/>
            </a:endParaRPr>
          </a:p>
        </p:txBody>
      </p:sp>
      <p:sp>
        <p:nvSpPr>
          <p:cNvPr id="4" name="Date Placeholder 3">
            <a:extLst>
              <a:ext uri="{FF2B5EF4-FFF2-40B4-BE49-F238E27FC236}">
                <a16:creationId xmlns:a16="http://schemas.microsoft.com/office/drawing/2014/main" id="{2F89734C-FD61-5979-D99F-CD151CD88A6B}"/>
              </a:ext>
            </a:extLst>
          </p:cNvPr>
          <p:cNvSpPr>
            <a:spLocks noGrp="1"/>
          </p:cNvSpPr>
          <p:nvPr>
            <p:ph type="dt" sz="half" idx="10"/>
          </p:nvPr>
        </p:nvSpPr>
        <p:spPr>
          <a:xfrm>
            <a:off x="6934200" y="4768797"/>
            <a:ext cx="2289048" cy="274320"/>
          </a:xfrm>
        </p:spPr>
        <p:txBody>
          <a:bodyPr/>
          <a:lstStyle/>
          <a:p>
            <a:pPr>
              <a:defRPr/>
            </a:pPr>
            <a:r>
              <a:rPr lang="en-US"/>
              <a:t>04/06/2026</a:t>
            </a:r>
            <a:endParaRPr lang="en-US" dirty="0"/>
          </a:p>
        </p:txBody>
      </p:sp>
    </p:spTree>
    <p:extLst>
      <p:ext uri="{BB962C8B-B14F-4D97-AF65-F5344CB8AC3E}">
        <p14:creationId xmlns:p14="http://schemas.microsoft.com/office/powerpoint/2010/main" val="1414699934"/>
      </p:ext>
    </p:extLst>
  </p:cSld>
  <p:clrMapOvr>
    <a:masterClrMapping/>
  </p:clrMapOvr>
  <p:transition spd="slow">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BB6BB-2415-497F-4C70-6A70B013581E}"/>
              </a:ext>
            </a:extLst>
          </p:cNvPr>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Python Programming  - Concepts Used</a:t>
            </a:r>
            <a:endParaRPr lang="en-IN" sz="4000" b="1" dirty="0">
              <a:solidFill>
                <a:schemeClr val="tx1"/>
              </a:solidFill>
              <a:latin typeface="Times New Roman" pitchFamily="18" charset="0"/>
              <a:cs typeface="Times New Roman" pitchFamily="18" charset="0"/>
            </a:endParaRPr>
          </a:p>
        </p:txBody>
      </p:sp>
      <p:sp>
        <p:nvSpPr>
          <p:cNvPr id="5" name="Footer Placeholder 4">
            <a:extLst>
              <a:ext uri="{FF2B5EF4-FFF2-40B4-BE49-F238E27FC236}">
                <a16:creationId xmlns:a16="http://schemas.microsoft.com/office/drawing/2014/main" id="{F55EE2C0-12B3-E6E1-5A16-64A0C6634B04}"/>
              </a:ext>
            </a:extLst>
          </p:cNvPr>
          <p:cNvSpPr>
            <a:spLocks noGrp="1"/>
          </p:cNvSpPr>
          <p:nvPr>
            <p:ph type="ftr" sz="quarter" idx="11"/>
          </p:nvPr>
        </p:nvSpPr>
        <p:spPr>
          <a:xfrm>
            <a:off x="2133600" y="4767263"/>
            <a:ext cx="4416552" cy="376237"/>
          </a:xfrm>
        </p:spPr>
        <p:txBody>
          <a:bodyPr/>
          <a:lstStyle/>
          <a:p>
            <a:pPr>
              <a:defRPr/>
            </a:pPr>
            <a:r>
              <a:rPr lang="en-US" sz="1200">
                <a:latin typeface="Times New Roman" pitchFamily="18" charset="0"/>
                <a:cs typeface="Times New Roman" pitchFamily="18" charset="0"/>
              </a:rPr>
              <a:t>END SEMESTER PROJECT REVIEW - APRIL / MAY 2026 </a:t>
            </a:r>
            <a:endParaRPr lang="en-US" sz="1200" dirty="0">
              <a:latin typeface="Times New Roman" pitchFamily="18" charset="0"/>
              <a:cs typeface="Times New Roman" pitchFamily="18" charset="0"/>
            </a:endParaRPr>
          </a:p>
        </p:txBody>
      </p:sp>
      <p:sp>
        <p:nvSpPr>
          <p:cNvPr id="6" name="Slide Number Placeholder 5">
            <a:extLst>
              <a:ext uri="{FF2B5EF4-FFF2-40B4-BE49-F238E27FC236}">
                <a16:creationId xmlns:a16="http://schemas.microsoft.com/office/drawing/2014/main" id="{05A628F9-F7CC-2DB8-AAC5-C0EF604976FD}"/>
              </a:ext>
            </a:extLst>
          </p:cNvPr>
          <p:cNvSpPr>
            <a:spLocks noGrp="1"/>
          </p:cNvSpPr>
          <p:nvPr>
            <p:ph type="sldNum" sz="quarter" idx="12"/>
          </p:nvPr>
        </p:nvSpPr>
        <p:spPr/>
        <p:txBody>
          <a:bodyPr/>
          <a:lstStyle/>
          <a:p>
            <a:pPr>
              <a:defRPr/>
            </a:pPr>
            <a:fld id="{0E14ABD8-B1EB-4C07-9937-C8C4E38BDF00}" type="slidenum">
              <a:rPr lang="en-US" altLang="en-US" smtClean="0"/>
              <a:pPr>
                <a:defRPr/>
              </a:pPr>
              <a:t>6</a:t>
            </a:fld>
            <a:endParaRPr lang="en-US" altLang="en-US"/>
          </a:p>
        </p:txBody>
      </p:sp>
      <p:sp>
        <p:nvSpPr>
          <p:cNvPr id="4" name="Date Placeholder 3">
            <a:extLst>
              <a:ext uri="{FF2B5EF4-FFF2-40B4-BE49-F238E27FC236}">
                <a16:creationId xmlns:a16="http://schemas.microsoft.com/office/drawing/2014/main" id="{68D1F611-2767-0B51-D890-A97F8CD8050C}"/>
              </a:ext>
            </a:extLst>
          </p:cNvPr>
          <p:cNvSpPr>
            <a:spLocks noGrp="1"/>
          </p:cNvSpPr>
          <p:nvPr>
            <p:ph type="dt" sz="half" idx="10"/>
          </p:nvPr>
        </p:nvSpPr>
        <p:spPr>
          <a:xfrm>
            <a:off x="6629400" y="4779662"/>
            <a:ext cx="2289048" cy="274320"/>
          </a:xfrm>
        </p:spPr>
        <p:txBody>
          <a:bodyPr/>
          <a:lstStyle/>
          <a:p>
            <a:pPr>
              <a:defRPr/>
            </a:pPr>
            <a:r>
              <a:rPr lang="en-US"/>
              <a:t>04/06/2026</a:t>
            </a:r>
            <a:endParaRPr lang="en-US" dirty="0"/>
          </a:p>
        </p:txBody>
      </p:sp>
      <p:sp>
        <p:nvSpPr>
          <p:cNvPr id="7" name="Content Placeholder 2">
            <a:extLst>
              <a:ext uri="{FF2B5EF4-FFF2-40B4-BE49-F238E27FC236}">
                <a16:creationId xmlns:a16="http://schemas.microsoft.com/office/drawing/2014/main" id="{5F3E6E9C-70D1-6B85-3EF4-EC24225C9581}"/>
              </a:ext>
            </a:extLst>
          </p:cNvPr>
          <p:cNvSpPr>
            <a:spLocks noGrp="1"/>
          </p:cNvSpPr>
          <p:nvPr>
            <p:ph sz="quarter" idx="1"/>
          </p:nvPr>
        </p:nvSpPr>
        <p:spPr>
          <a:xfrm>
            <a:off x="457200" y="857250"/>
            <a:ext cx="8229600" cy="3703638"/>
          </a:xfrm>
        </p:spPr>
        <p:txBody>
          <a:bodyPr>
            <a:noAutofit/>
          </a:bodyPr>
          <a:lstStyle/>
          <a:p>
            <a:pPr marL="0" indent="0" algn="just">
              <a:buNone/>
            </a:pPr>
            <a:r>
              <a:rPr lang="en-IN" sz="1200" b="1" dirty="0">
                <a:latin typeface="Times New Roman" panose="02020603050405020304" pitchFamily="18" charset="0"/>
                <a:cs typeface="Times New Roman" panose="02020603050405020304" pitchFamily="18" charset="0"/>
              </a:rPr>
              <a:t>        1.Python fundamentals</a:t>
            </a:r>
          </a:p>
          <a:p>
            <a:pPr algn="just">
              <a:buFont typeface="Wingdings" panose="05000000000000000000" pitchFamily="2" charset="2"/>
              <a:buChar char="Ø"/>
            </a:pPr>
            <a:r>
              <a:rPr lang="en-IN" sz="1200" dirty="0">
                <a:latin typeface="Times New Roman" panose="02020603050405020304" pitchFamily="18" charset="0"/>
                <a:cs typeface="Times New Roman" panose="02020603050405020304" pitchFamily="18" charset="0"/>
              </a:rPr>
              <a:t>Variables and data types</a:t>
            </a:r>
          </a:p>
          <a:p>
            <a:pPr algn="just">
              <a:buFont typeface="Wingdings" panose="05000000000000000000" pitchFamily="2" charset="2"/>
              <a:buChar char="Ø"/>
            </a:pPr>
            <a:r>
              <a:rPr lang="en-IN" sz="1200" dirty="0">
                <a:latin typeface="Times New Roman" panose="02020603050405020304" pitchFamily="18" charset="0"/>
                <a:cs typeface="Times New Roman" panose="02020603050405020304" pitchFamily="18" charset="0"/>
              </a:rPr>
              <a:t>Basic Python syntax</a:t>
            </a:r>
          </a:p>
          <a:p>
            <a:pPr algn="just">
              <a:buFont typeface="Wingdings" panose="05000000000000000000" pitchFamily="2" charset="2"/>
              <a:buChar char="Ø"/>
            </a:pPr>
            <a:r>
              <a:rPr lang="en-IN" sz="1200" dirty="0">
                <a:latin typeface="Times New Roman" panose="02020603050405020304" pitchFamily="18" charset="0"/>
                <a:cs typeface="Times New Roman" panose="02020603050405020304" pitchFamily="18" charset="0"/>
              </a:rPr>
              <a:t>Input handling through GUI</a:t>
            </a:r>
          </a:p>
          <a:p>
            <a:pPr marL="0" indent="0" algn="just">
              <a:buNone/>
            </a:pPr>
            <a:r>
              <a:rPr lang="en-IN" sz="1200" b="1" dirty="0">
                <a:latin typeface="Times New Roman" panose="02020603050405020304" pitchFamily="18" charset="0"/>
                <a:cs typeface="Times New Roman" panose="02020603050405020304" pitchFamily="18" charset="0"/>
              </a:rPr>
              <a:t>       2. Control Statements and Functions</a:t>
            </a:r>
          </a:p>
          <a:p>
            <a:pPr algn="just">
              <a:buFont typeface="Wingdings" panose="05000000000000000000" pitchFamily="2" charset="2"/>
              <a:buChar char="Ø"/>
            </a:pPr>
            <a:r>
              <a:rPr lang="en-IN" sz="1200" dirty="0">
                <a:latin typeface="Times New Roman" panose="02020603050405020304" pitchFamily="18" charset="0"/>
                <a:cs typeface="Times New Roman" panose="02020603050405020304" pitchFamily="18" charset="0"/>
              </a:rPr>
              <a:t>User-defined functions (add, update, delete)</a:t>
            </a:r>
          </a:p>
          <a:p>
            <a:pPr algn="just">
              <a:buFont typeface="Wingdings" panose="05000000000000000000" pitchFamily="2" charset="2"/>
              <a:buChar char="Ø"/>
            </a:pPr>
            <a:r>
              <a:rPr lang="en-IN" sz="1200" dirty="0">
                <a:latin typeface="Times New Roman" panose="02020603050405020304" pitchFamily="18" charset="0"/>
                <a:cs typeface="Times New Roman" panose="02020603050405020304" pitchFamily="18" charset="0"/>
              </a:rPr>
              <a:t>Conditional statements (if, else)</a:t>
            </a:r>
          </a:p>
          <a:p>
            <a:pPr marL="0" indent="0" algn="just">
              <a:buNone/>
            </a:pPr>
            <a:r>
              <a:rPr lang="en-IN" sz="1200" b="1" dirty="0">
                <a:latin typeface="Times New Roman" panose="02020603050405020304" pitchFamily="18" charset="0"/>
                <a:cs typeface="Times New Roman" panose="02020603050405020304" pitchFamily="18" charset="0"/>
              </a:rPr>
              <a:t>       3. Strings, Lists, and Tuples</a:t>
            </a:r>
          </a:p>
          <a:p>
            <a:pPr algn="just">
              <a:buFont typeface="Wingdings" panose="05000000000000000000" pitchFamily="2" charset="2"/>
              <a:buChar char="Ø"/>
            </a:pPr>
            <a:r>
              <a:rPr lang="en-IN" sz="1200" dirty="0">
                <a:latin typeface="Times New Roman" panose="02020603050405020304" pitchFamily="18" charset="0"/>
                <a:cs typeface="Times New Roman" panose="02020603050405020304" pitchFamily="18" charset="0"/>
              </a:rPr>
              <a:t>Strings for names, phone, email</a:t>
            </a:r>
          </a:p>
          <a:p>
            <a:pPr algn="just">
              <a:buFont typeface="Wingdings" panose="05000000000000000000" pitchFamily="2" charset="2"/>
              <a:buChar char="Ø"/>
            </a:pPr>
            <a:r>
              <a:rPr lang="en-IN" sz="1200" dirty="0">
                <a:latin typeface="Times New Roman" panose="02020603050405020304" pitchFamily="18" charset="0"/>
                <a:cs typeface="Times New Roman" panose="02020603050405020304" pitchFamily="18" charset="0"/>
              </a:rPr>
              <a:t>Lists for displaying contacts</a:t>
            </a:r>
          </a:p>
          <a:p>
            <a:pPr algn="just">
              <a:buFont typeface="Wingdings" panose="05000000000000000000" pitchFamily="2" charset="2"/>
              <a:buChar char="Ø"/>
            </a:pPr>
            <a:r>
              <a:rPr lang="en-IN" sz="1200" dirty="0">
                <a:latin typeface="Times New Roman" panose="02020603050405020304" pitchFamily="18" charset="0"/>
                <a:cs typeface="Times New Roman" panose="02020603050405020304" pitchFamily="18" charset="0"/>
              </a:rPr>
              <a:t>Tuples for database records</a:t>
            </a:r>
          </a:p>
          <a:p>
            <a:pPr marL="0" indent="0" algn="just">
              <a:buNone/>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4. Python Libraries and Application Development</a:t>
            </a:r>
          </a:p>
          <a:p>
            <a:pPr algn="just">
              <a:buFont typeface="Wingdings" panose="05000000000000000000" pitchFamily="2" charset="2"/>
              <a:buChar char="Ø"/>
            </a:pPr>
            <a:r>
              <a:rPr lang="en-IN" sz="1200" dirty="0" err="1">
                <a:latin typeface="Times New Roman" panose="02020603050405020304" pitchFamily="18" charset="0"/>
                <a:cs typeface="Times New Roman" panose="02020603050405020304" pitchFamily="18" charset="0"/>
              </a:rPr>
              <a:t>Tkinter</a:t>
            </a:r>
            <a:r>
              <a:rPr lang="en-IN" sz="1200" dirty="0">
                <a:latin typeface="Times New Roman" panose="02020603050405020304" pitchFamily="18" charset="0"/>
                <a:cs typeface="Times New Roman" panose="02020603050405020304" pitchFamily="18" charset="0"/>
              </a:rPr>
              <a:t> for GUI</a:t>
            </a:r>
          </a:p>
          <a:p>
            <a:pPr algn="just">
              <a:buFont typeface="Wingdings" panose="05000000000000000000" pitchFamily="2" charset="2"/>
              <a:buChar char="Ø"/>
            </a:pPr>
            <a:r>
              <a:rPr lang="en-IN" sz="1200" dirty="0">
                <a:latin typeface="Times New Roman" panose="02020603050405020304" pitchFamily="18" charset="0"/>
                <a:cs typeface="Times New Roman" panose="02020603050405020304" pitchFamily="18" charset="0"/>
              </a:rPr>
              <a:t>SQLite (sqlite3) for database</a:t>
            </a:r>
          </a:p>
          <a:p>
            <a:pPr algn="just">
              <a:buFont typeface="Wingdings" panose="05000000000000000000" pitchFamily="2" charset="2"/>
              <a:buChar char="Ø"/>
            </a:pPr>
            <a:r>
              <a:rPr lang="en-IN" sz="1200" dirty="0">
                <a:latin typeface="Times New Roman" panose="02020603050405020304" pitchFamily="18" charset="0"/>
                <a:cs typeface="Times New Roman" panose="02020603050405020304" pitchFamily="18" charset="0"/>
              </a:rPr>
              <a:t>Message box for alerts</a:t>
            </a:r>
          </a:p>
          <a:p>
            <a:pPr algn="just"/>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0557367"/>
      </p:ext>
    </p:extLst>
  </p:cSld>
  <p:clrMapOvr>
    <a:masterClrMapping/>
  </p:clrMapOvr>
  <p:transition spd="slow">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7FB43-016D-4DDB-52D8-BCF00F70ED73}"/>
              </a:ext>
            </a:extLst>
          </p:cNvPr>
          <p:cNvSpPr>
            <a:spLocks noGrp="1"/>
          </p:cNvSpPr>
          <p:nvPr>
            <p:ph type="title"/>
          </p:nvPr>
        </p:nvSpPr>
        <p:spPr>
          <a:xfrm>
            <a:off x="381000" y="0"/>
            <a:ext cx="8229600" cy="742950"/>
          </a:xfrm>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Proposed Architecture</a:t>
            </a:r>
            <a:endParaRPr lang="en-IN" sz="4000" b="1" dirty="0">
              <a:solidFill>
                <a:schemeClr val="tx1"/>
              </a:solidFill>
              <a:latin typeface="Times New Roman" pitchFamily="18" charset="0"/>
              <a:cs typeface="Times New Roman" pitchFamily="18" charset="0"/>
            </a:endParaRPr>
          </a:p>
        </p:txBody>
      </p:sp>
      <p:sp>
        <p:nvSpPr>
          <p:cNvPr id="5" name="Footer Placeholder 4">
            <a:extLst>
              <a:ext uri="{FF2B5EF4-FFF2-40B4-BE49-F238E27FC236}">
                <a16:creationId xmlns:a16="http://schemas.microsoft.com/office/drawing/2014/main" id="{AFAF8B42-1B21-5C6F-AF75-1ADAF6ED8B08}"/>
              </a:ext>
            </a:extLst>
          </p:cNvPr>
          <p:cNvSpPr>
            <a:spLocks noGrp="1"/>
          </p:cNvSpPr>
          <p:nvPr>
            <p:ph type="ftr" sz="quarter" idx="11"/>
          </p:nvPr>
        </p:nvSpPr>
        <p:spPr>
          <a:xfrm>
            <a:off x="2438400" y="4781550"/>
            <a:ext cx="4264152" cy="228600"/>
          </a:xfrm>
        </p:spPr>
        <p:txBody>
          <a:bodyPr/>
          <a:lstStyle/>
          <a:p>
            <a:pPr>
              <a:defRPr/>
            </a:pPr>
            <a:r>
              <a:rPr lang="en-US" sz="1200">
                <a:latin typeface="Times New Roman" pitchFamily="18" charset="0"/>
                <a:cs typeface="Times New Roman" pitchFamily="18" charset="0"/>
              </a:rPr>
              <a:t>END SEMESTER PROJECT REVIEW - APRIL / MAY 2026 </a:t>
            </a:r>
            <a:endParaRPr lang="en-US" sz="1200" dirty="0">
              <a:latin typeface="Times New Roman" pitchFamily="18" charset="0"/>
              <a:cs typeface="Times New Roman" pitchFamily="18" charset="0"/>
            </a:endParaRPr>
          </a:p>
        </p:txBody>
      </p:sp>
      <p:sp>
        <p:nvSpPr>
          <p:cNvPr id="6" name="Slide Number Placeholder 5">
            <a:extLst>
              <a:ext uri="{FF2B5EF4-FFF2-40B4-BE49-F238E27FC236}">
                <a16:creationId xmlns:a16="http://schemas.microsoft.com/office/drawing/2014/main" id="{5466DEE7-B5D1-AD74-0657-7CAE2D6C0712}"/>
              </a:ext>
            </a:extLst>
          </p:cNvPr>
          <p:cNvSpPr>
            <a:spLocks noGrp="1"/>
          </p:cNvSpPr>
          <p:nvPr>
            <p:ph type="sldNum" sz="quarter" idx="12"/>
          </p:nvPr>
        </p:nvSpPr>
        <p:spPr/>
        <p:txBody>
          <a:bodyPr/>
          <a:lstStyle/>
          <a:p>
            <a:pPr>
              <a:defRPr/>
            </a:pPr>
            <a:fld id="{0E14ABD8-B1EB-4C07-9937-C8C4E38BDF00}" type="slidenum">
              <a:rPr lang="en-US" altLang="en-US" smtClean="0"/>
              <a:pPr>
                <a:defRPr/>
              </a:pPr>
              <a:t>7</a:t>
            </a:fld>
            <a:endParaRPr lang="en-US" altLang="en-US"/>
          </a:p>
        </p:txBody>
      </p:sp>
      <p:sp>
        <p:nvSpPr>
          <p:cNvPr id="4" name="Date Placeholder 3">
            <a:extLst>
              <a:ext uri="{FF2B5EF4-FFF2-40B4-BE49-F238E27FC236}">
                <a16:creationId xmlns:a16="http://schemas.microsoft.com/office/drawing/2014/main" id="{E63AED18-B1EC-B11D-6D52-BC71579B52C4}"/>
              </a:ext>
            </a:extLst>
          </p:cNvPr>
          <p:cNvSpPr>
            <a:spLocks noGrp="1"/>
          </p:cNvSpPr>
          <p:nvPr>
            <p:ph type="dt" sz="half" idx="10"/>
          </p:nvPr>
        </p:nvSpPr>
        <p:spPr>
          <a:xfrm>
            <a:off x="6703844" y="4767263"/>
            <a:ext cx="2289048" cy="274320"/>
          </a:xfrm>
        </p:spPr>
        <p:txBody>
          <a:bodyPr/>
          <a:lstStyle/>
          <a:p>
            <a:pPr>
              <a:defRPr/>
            </a:pPr>
            <a:r>
              <a:rPr lang="en-US"/>
              <a:t>04/06/2026</a:t>
            </a:r>
            <a:endParaRPr lang="en-US" dirty="0"/>
          </a:p>
        </p:txBody>
      </p:sp>
      <p:pic>
        <p:nvPicPr>
          <p:cNvPr id="8" name="Content Placeholder 7" descr="WhatsApp Image 2026-04-21 at 12.53.00 PM.jpeg"/>
          <p:cNvPicPr>
            <a:picLocks noGrp="1" noChangeAspect="1"/>
          </p:cNvPicPr>
          <p:nvPr>
            <p:ph sz="quarter" idx="1"/>
          </p:nvPr>
        </p:nvPicPr>
        <p:blipFill>
          <a:blip r:embed="rId2" cstate="print"/>
          <a:stretch>
            <a:fillRect/>
          </a:stretch>
        </p:blipFill>
        <p:spPr>
          <a:xfrm>
            <a:off x="990600" y="962218"/>
            <a:ext cx="6629400" cy="3735512"/>
          </a:xfrm>
          <a:prstGeom prst="rect">
            <a:avLst/>
          </a:prstGeom>
          <a:ln>
            <a:noFill/>
          </a:ln>
          <a:effectLst>
            <a:softEdge rad="112500"/>
          </a:effectLst>
        </p:spPr>
      </p:pic>
    </p:spTree>
    <p:extLst>
      <p:ext uri="{BB962C8B-B14F-4D97-AF65-F5344CB8AC3E}">
        <p14:creationId xmlns:p14="http://schemas.microsoft.com/office/powerpoint/2010/main" val="77718250"/>
      </p:ext>
    </p:extLst>
  </p:cSld>
  <p:clrMapOvr>
    <a:masterClrMapping/>
  </p:clrMapOvr>
  <p:transition spd="slow">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63E8D-3F63-8ED5-2478-E9C00D1B15F2}"/>
              </a:ext>
            </a:extLst>
          </p:cNvPr>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Proposed Architecture - Description</a:t>
            </a:r>
            <a:endParaRPr lang="en-IN" sz="4000" b="1" dirty="0">
              <a:solidFill>
                <a:schemeClr val="tx1"/>
              </a:solidFill>
              <a:latin typeface="Times New Roman" pitchFamily="18" charset="0"/>
              <a:cs typeface="Times New Roman" pitchFamily="18" charset="0"/>
            </a:endParaRPr>
          </a:p>
        </p:txBody>
      </p:sp>
      <p:sp>
        <p:nvSpPr>
          <p:cNvPr id="5" name="Footer Placeholder 4">
            <a:extLst>
              <a:ext uri="{FF2B5EF4-FFF2-40B4-BE49-F238E27FC236}">
                <a16:creationId xmlns:a16="http://schemas.microsoft.com/office/drawing/2014/main" id="{10EB4194-110F-D7FD-0DF4-398A93C90EAF}"/>
              </a:ext>
            </a:extLst>
          </p:cNvPr>
          <p:cNvSpPr>
            <a:spLocks noGrp="1"/>
          </p:cNvSpPr>
          <p:nvPr>
            <p:ph type="ftr" sz="quarter" idx="11"/>
          </p:nvPr>
        </p:nvSpPr>
        <p:spPr>
          <a:xfrm>
            <a:off x="2667000" y="4767263"/>
            <a:ext cx="4267200" cy="376237"/>
          </a:xfrm>
        </p:spPr>
        <p:txBody>
          <a:bodyPr/>
          <a:lstStyle/>
          <a:p>
            <a:pPr>
              <a:defRPr/>
            </a:pPr>
            <a:r>
              <a:rPr lang="en-US" sz="1200" dirty="0">
                <a:latin typeface="Times New Roman" pitchFamily="18" charset="0"/>
                <a:cs typeface="Times New Roman" pitchFamily="18" charset="0"/>
              </a:rPr>
              <a:t>END SEMESTER PROJECT REVIEW - APRIL / MAY 2026 </a:t>
            </a:r>
          </a:p>
        </p:txBody>
      </p:sp>
      <p:sp>
        <p:nvSpPr>
          <p:cNvPr id="6" name="Slide Number Placeholder 5">
            <a:extLst>
              <a:ext uri="{FF2B5EF4-FFF2-40B4-BE49-F238E27FC236}">
                <a16:creationId xmlns:a16="http://schemas.microsoft.com/office/drawing/2014/main" id="{9C1B7B88-F6CF-BB6D-6BBC-27F7045B413C}"/>
              </a:ext>
            </a:extLst>
          </p:cNvPr>
          <p:cNvSpPr>
            <a:spLocks noGrp="1"/>
          </p:cNvSpPr>
          <p:nvPr>
            <p:ph type="sldNum" sz="quarter" idx="12"/>
          </p:nvPr>
        </p:nvSpPr>
        <p:spPr/>
        <p:txBody>
          <a:bodyPr/>
          <a:lstStyle/>
          <a:p>
            <a:pPr>
              <a:defRPr/>
            </a:pPr>
            <a:fld id="{0E14ABD8-B1EB-4C07-9937-C8C4E38BDF00}" type="slidenum">
              <a:rPr lang="en-US" altLang="en-US" smtClean="0"/>
              <a:pPr>
                <a:defRPr/>
              </a:pPr>
              <a:t>8</a:t>
            </a:fld>
            <a:endParaRPr lang="en-US" altLang="en-US" dirty="0"/>
          </a:p>
        </p:txBody>
      </p:sp>
      <p:sp>
        <p:nvSpPr>
          <p:cNvPr id="4" name="Date Placeholder 3">
            <a:extLst>
              <a:ext uri="{FF2B5EF4-FFF2-40B4-BE49-F238E27FC236}">
                <a16:creationId xmlns:a16="http://schemas.microsoft.com/office/drawing/2014/main" id="{CF890045-C614-BE63-CA1B-581940946C63}"/>
              </a:ext>
            </a:extLst>
          </p:cNvPr>
          <p:cNvSpPr>
            <a:spLocks noGrp="1"/>
          </p:cNvSpPr>
          <p:nvPr>
            <p:ph type="dt" sz="half" idx="10"/>
          </p:nvPr>
        </p:nvSpPr>
        <p:spPr>
          <a:xfrm>
            <a:off x="7004769" y="4784295"/>
            <a:ext cx="2289048" cy="274320"/>
          </a:xfrm>
        </p:spPr>
        <p:txBody>
          <a:bodyPr/>
          <a:lstStyle/>
          <a:p>
            <a:pPr>
              <a:defRPr/>
            </a:pPr>
            <a:r>
              <a:rPr lang="en-US"/>
              <a:t>04/06/2026</a:t>
            </a:r>
            <a:endParaRPr lang="en-US" dirty="0"/>
          </a:p>
        </p:txBody>
      </p:sp>
      <p:sp>
        <p:nvSpPr>
          <p:cNvPr id="8" name="Content Placeholder 7">
            <a:extLst>
              <a:ext uri="{FF2B5EF4-FFF2-40B4-BE49-F238E27FC236}">
                <a16:creationId xmlns:a16="http://schemas.microsoft.com/office/drawing/2014/main" id="{2BEEA834-9A99-755E-8AB4-558136017B97}"/>
              </a:ext>
            </a:extLst>
          </p:cNvPr>
          <p:cNvSpPr>
            <a:spLocks noGrp="1"/>
          </p:cNvSpPr>
          <p:nvPr>
            <p:ph sz="quarter" idx="1"/>
          </p:nvPr>
        </p:nvSpPr>
        <p:spPr/>
        <p:txBody>
          <a:bodyPr>
            <a:noAutofit/>
          </a:bodyPr>
          <a:lstStyle/>
          <a:p>
            <a:pPr marL="0" indent="0">
              <a:buNone/>
            </a:pPr>
            <a:r>
              <a:rPr lang="en-US" sz="1400" b="1" dirty="0">
                <a:latin typeface="Times New Roman" panose="02020603050405020304" pitchFamily="18" charset="0"/>
                <a:cs typeface="Times New Roman" panose="02020603050405020304" pitchFamily="18" charset="0"/>
              </a:rPr>
              <a:t>1. Presentation Layer (</a:t>
            </a:r>
            <a:r>
              <a:rPr lang="en-US" sz="1400" b="1" dirty="0" err="1">
                <a:latin typeface="Times New Roman" panose="02020603050405020304" pitchFamily="18" charset="0"/>
                <a:cs typeface="Times New Roman" panose="02020603050405020304" pitchFamily="18" charset="0"/>
              </a:rPr>
              <a:t>Tkinter</a:t>
            </a:r>
            <a:r>
              <a:rPr lang="en-US" sz="1400" b="1" dirty="0">
                <a:latin typeface="Times New Roman" panose="02020603050405020304" pitchFamily="18" charset="0"/>
                <a:cs typeface="Times New Roman" panose="02020603050405020304" pitchFamily="18" charset="0"/>
              </a:rPr>
              <a:t> UI)</a:t>
            </a:r>
          </a:p>
          <a:p>
            <a:pPr>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Login Page: </a:t>
            </a:r>
            <a:r>
              <a:rPr lang="en-US" sz="1400" dirty="0">
                <a:latin typeface="Times New Roman" panose="02020603050405020304" pitchFamily="18" charset="0"/>
                <a:cs typeface="Times New Roman" panose="02020603050405020304" pitchFamily="18" charset="0"/>
              </a:rPr>
              <a:t>Handles user authentication and access to the "Forgot Password" dialog.</a:t>
            </a:r>
          </a:p>
          <a:p>
            <a:pPr>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Contact Manager Page: </a:t>
            </a:r>
            <a:r>
              <a:rPr lang="en-US" sz="1400" dirty="0">
                <a:latin typeface="Times New Roman" panose="02020603050405020304" pitchFamily="18" charset="0"/>
                <a:cs typeface="Times New Roman" panose="02020603050405020304" pitchFamily="18" charset="0"/>
              </a:rPr>
              <a:t>The main dashboard for viewing the contact list (</a:t>
            </a:r>
            <a:r>
              <a:rPr lang="en-US" sz="1400" dirty="0" err="1">
                <a:latin typeface="Times New Roman" panose="02020603050405020304" pitchFamily="18" charset="0"/>
                <a:cs typeface="Times New Roman" panose="02020603050405020304" pitchFamily="18" charset="0"/>
              </a:rPr>
              <a:t>Treeview</a:t>
            </a:r>
            <a:r>
              <a:rPr lang="en-US" sz="1400" dirty="0">
                <a:latin typeface="Times New Roman" panose="02020603050405020304" pitchFamily="18" charset="0"/>
                <a:cs typeface="Times New Roman" panose="02020603050405020304" pitchFamily="18" charset="0"/>
              </a:rPr>
              <a:t>), adding new entries, and managing updates or deletions.</a:t>
            </a:r>
          </a:p>
          <a:p>
            <a:pPr marL="0" indent="0">
              <a:buNone/>
            </a:pPr>
            <a:r>
              <a:rPr lang="en-US" sz="1400" b="1" dirty="0">
                <a:latin typeface="Times New Roman" panose="02020603050405020304" pitchFamily="18" charset="0"/>
                <a:cs typeface="Times New Roman" panose="02020603050405020304" pitchFamily="18" charset="0"/>
              </a:rPr>
              <a:t>2. Application Logic Layer (Python)</a:t>
            </a:r>
          </a:p>
          <a:p>
            <a:pPr>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Security Module: </a:t>
            </a:r>
            <a:r>
              <a:rPr lang="en-US" sz="1400" dirty="0">
                <a:latin typeface="Times New Roman" panose="02020603050405020304" pitchFamily="18" charset="0"/>
                <a:cs typeface="Times New Roman" panose="02020603050405020304" pitchFamily="18" charset="0"/>
              </a:rPr>
              <a:t>Implements SHA-256 hashing via </a:t>
            </a:r>
            <a:r>
              <a:rPr lang="en-US" sz="1400" dirty="0" err="1">
                <a:latin typeface="Times New Roman" panose="02020603050405020304" pitchFamily="18" charset="0"/>
                <a:cs typeface="Times New Roman" panose="02020603050405020304" pitchFamily="18" charset="0"/>
              </a:rPr>
              <a:t>hash_text</a:t>
            </a:r>
            <a:r>
              <a:rPr lang="en-US" sz="1400" dirty="0">
                <a:latin typeface="Times New Roman" panose="02020603050405020304" pitchFamily="18" charset="0"/>
                <a:cs typeface="Times New Roman" panose="02020603050405020304" pitchFamily="18" charset="0"/>
              </a:rPr>
              <a:t> to securely validate credentials and reset passwords.</a:t>
            </a:r>
          </a:p>
          <a:p>
            <a:pPr>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Contact Database Class: </a:t>
            </a:r>
            <a:r>
              <a:rPr lang="en-US" sz="1400" dirty="0">
                <a:latin typeface="Times New Roman" panose="02020603050405020304" pitchFamily="18" charset="0"/>
                <a:cs typeface="Times New Roman" panose="02020603050405020304" pitchFamily="18" charset="0"/>
              </a:rPr>
              <a:t>The core engine that bridges the UI and storage. It manages SQL query execution, automated table migrations, and data logic like birthday reminders.</a:t>
            </a:r>
          </a:p>
          <a:p>
            <a:pPr marL="0" indent="0">
              <a:buNone/>
            </a:pPr>
            <a:r>
              <a:rPr lang="en-US" sz="1400" b="1" dirty="0">
                <a:latin typeface="Times New Roman" panose="02020603050405020304" pitchFamily="18" charset="0"/>
                <a:cs typeface="Times New Roman" panose="02020603050405020304" pitchFamily="18" charset="0"/>
              </a:rPr>
              <a:t>3. Data Layer (SQLite)</a:t>
            </a:r>
          </a:p>
          <a:p>
            <a:pPr>
              <a:buFont typeface="Wingdings" panose="05000000000000000000" pitchFamily="2" charset="2"/>
              <a:buChar char="v"/>
            </a:pPr>
            <a:r>
              <a:rPr lang="en-US" sz="1400" b="1" dirty="0" err="1">
                <a:latin typeface="Times New Roman" panose="02020603050405020304" pitchFamily="18" charset="0"/>
                <a:cs typeface="Times New Roman" panose="02020603050405020304" pitchFamily="18" charset="0"/>
              </a:rPr>
              <a:t>contacts.db</a:t>
            </a:r>
            <a:r>
              <a:rPr lang="en-US" sz="1400" b="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The physical database file.</a:t>
            </a:r>
          </a:p>
          <a:p>
            <a:pPr>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Users Table: </a:t>
            </a:r>
            <a:r>
              <a:rPr lang="en-US" sz="1400" dirty="0">
                <a:latin typeface="Times New Roman" panose="02020603050405020304" pitchFamily="18" charset="0"/>
                <a:cs typeface="Times New Roman" panose="02020603050405020304" pitchFamily="18" charset="0"/>
              </a:rPr>
              <a:t>Stores username, </a:t>
            </a:r>
            <a:r>
              <a:rPr lang="en-US" sz="1400" dirty="0" err="1">
                <a:latin typeface="Times New Roman" panose="02020603050405020304" pitchFamily="18" charset="0"/>
                <a:cs typeface="Times New Roman" panose="02020603050405020304" pitchFamily="18" charset="0"/>
              </a:rPr>
              <a:t>password_hash</a:t>
            </a:r>
            <a:r>
              <a:rPr lang="en-US" sz="1400" dirty="0">
                <a:latin typeface="Times New Roman" panose="02020603050405020304" pitchFamily="18" charset="0"/>
                <a:cs typeface="Times New Roman" panose="02020603050405020304" pitchFamily="18" charset="0"/>
              </a:rPr>
              <a:t>, and </a:t>
            </a:r>
            <a:r>
              <a:rPr lang="en-US" sz="1400" dirty="0" err="1">
                <a:latin typeface="Times New Roman" panose="02020603050405020304" pitchFamily="18" charset="0"/>
                <a:cs typeface="Times New Roman" panose="02020603050405020304" pitchFamily="18" charset="0"/>
              </a:rPr>
              <a:t>security_answer_hash</a:t>
            </a:r>
            <a:r>
              <a:rPr lang="en-US" sz="14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Contacts_v2 Table: </a:t>
            </a:r>
            <a:r>
              <a:rPr lang="en-US" sz="1400" dirty="0">
                <a:latin typeface="Times New Roman" panose="02020603050405020304" pitchFamily="18" charset="0"/>
                <a:cs typeface="Times New Roman" panose="02020603050405020304" pitchFamily="18" charset="0"/>
              </a:rPr>
              <a:t>Stores detailed contact information including phone, email, LinkedIn/GitHub IDs, and emergency status.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8201940"/>
      </p:ext>
    </p:extLst>
  </p:cSld>
  <p:clrMapOvr>
    <a:masterClrMapping/>
  </p:clrMapOvr>
  <p:transition spd="slow">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0E8CD-B6C3-C340-0D91-BCD437C40468}"/>
              </a:ext>
            </a:extLst>
          </p:cNvPr>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List of Modules</a:t>
            </a:r>
          </a:p>
        </p:txBody>
      </p:sp>
      <p:sp>
        <p:nvSpPr>
          <p:cNvPr id="5" name="Footer Placeholder 4">
            <a:extLst>
              <a:ext uri="{FF2B5EF4-FFF2-40B4-BE49-F238E27FC236}">
                <a16:creationId xmlns:a16="http://schemas.microsoft.com/office/drawing/2014/main" id="{4D95C9AB-6F24-D9B7-D1F9-29164BA10B30}"/>
              </a:ext>
            </a:extLst>
          </p:cNvPr>
          <p:cNvSpPr>
            <a:spLocks noGrp="1"/>
          </p:cNvSpPr>
          <p:nvPr>
            <p:ph type="ftr" sz="quarter" idx="11"/>
          </p:nvPr>
        </p:nvSpPr>
        <p:spPr>
          <a:xfrm>
            <a:off x="2819400" y="4767263"/>
            <a:ext cx="4343400" cy="376237"/>
          </a:xfrm>
        </p:spPr>
        <p:txBody>
          <a:bodyPr/>
          <a:lstStyle/>
          <a:p>
            <a:pPr>
              <a:defRPr/>
            </a:pPr>
            <a:r>
              <a:rPr lang="en-US" sz="1200">
                <a:latin typeface="Times New Roman" pitchFamily="18" charset="0"/>
                <a:cs typeface="Times New Roman" pitchFamily="18" charset="0"/>
              </a:rPr>
              <a:t>END SEMESTER PROJECT REVIEW - APRIL / MAY 2026 </a:t>
            </a:r>
            <a:endParaRPr lang="en-US" sz="1200" dirty="0">
              <a:latin typeface="Times New Roman" pitchFamily="18" charset="0"/>
              <a:cs typeface="Times New Roman" pitchFamily="18" charset="0"/>
            </a:endParaRPr>
          </a:p>
        </p:txBody>
      </p:sp>
      <p:sp>
        <p:nvSpPr>
          <p:cNvPr id="6" name="Slide Number Placeholder 5">
            <a:extLst>
              <a:ext uri="{FF2B5EF4-FFF2-40B4-BE49-F238E27FC236}">
                <a16:creationId xmlns:a16="http://schemas.microsoft.com/office/drawing/2014/main" id="{2A144F88-4A41-564C-4A77-41044675C317}"/>
              </a:ext>
            </a:extLst>
          </p:cNvPr>
          <p:cNvSpPr>
            <a:spLocks noGrp="1"/>
          </p:cNvSpPr>
          <p:nvPr>
            <p:ph type="sldNum" sz="quarter" idx="12"/>
          </p:nvPr>
        </p:nvSpPr>
        <p:spPr/>
        <p:txBody>
          <a:bodyPr/>
          <a:lstStyle/>
          <a:p>
            <a:pPr>
              <a:defRPr/>
            </a:pPr>
            <a:fld id="{0E14ABD8-B1EB-4C07-9937-C8C4E38BDF00}" type="slidenum">
              <a:rPr lang="en-US" altLang="en-US" smtClean="0"/>
              <a:pPr>
                <a:defRPr/>
              </a:pPr>
              <a:t>9</a:t>
            </a:fld>
            <a:endParaRPr lang="en-US" altLang="en-US"/>
          </a:p>
        </p:txBody>
      </p:sp>
      <p:sp>
        <p:nvSpPr>
          <p:cNvPr id="4" name="Date Placeholder 3">
            <a:extLst>
              <a:ext uri="{FF2B5EF4-FFF2-40B4-BE49-F238E27FC236}">
                <a16:creationId xmlns:a16="http://schemas.microsoft.com/office/drawing/2014/main" id="{9AD6FE67-E9F0-FB3D-C3F0-498155BC132A}"/>
              </a:ext>
            </a:extLst>
          </p:cNvPr>
          <p:cNvSpPr>
            <a:spLocks noGrp="1"/>
          </p:cNvSpPr>
          <p:nvPr>
            <p:ph type="dt" sz="half" idx="10"/>
          </p:nvPr>
        </p:nvSpPr>
        <p:spPr>
          <a:xfrm>
            <a:off x="7146010" y="4767263"/>
            <a:ext cx="2289048" cy="274320"/>
          </a:xfrm>
        </p:spPr>
        <p:txBody>
          <a:bodyPr/>
          <a:lstStyle/>
          <a:p>
            <a:pPr>
              <a:defRPr/>
            </a:pPr>
            <a:r>
              <a:rPr lang="en-US"/>
              <a:t>04/06/2026</a:t>
            </a:r>
            <a:endParaRPr lang="en-US" dirty="0"/>
          </a:p>
        </p:txBody>
      </p:sp>
      <p:sp>
        <p:nvSpPr>
          <p:cNvPr id="7" name="Content Placeholder 2">
            <a:extLst>
              <a:ext uri="{FF2B5EF4-FFF2-40B4-BE49-F238E27FC236}">
                <a16:creationId xmlns:a16="http://schemas.microsoft.com/office/drawing/2014/main" id="{198A3D57-B4B5-DE28-5D10-84833E753CB9}"/>
              </a:ext>
            </a:extLst>
          </p:cNvPr>
          <p:cNvSpPr>
            <a:spLocks noGrp="1"/>
          </p:cNvSpPr>
          <p:nvPr>
            <p:ph sz="quarter" idx="1"/>
          </p:nvPr>
        </p:nvSpPr>
        <p:spPr>
          <a:xfrm>
            <a:off x="457200" y="914400"/>
            <a:ext cx="8229600" cy="3703638"/>
          </a:xfrm>
        </p:spPr>
        <p:txBody>
          <a:bodyPr>
            <a:normAutofit/>
          </a:bodyPr>
          <a:lstStyle/>
          <a:p>
            <a:pPr marL="514350" indent="-514350" algn="just">
              <a:buAutoNum type="arabicPeriod"/>
            </a:pPr>
            <a:r>
              <a:rPr lang="en-US" dirty="0">
                <a:latin typeface="Times New Roman" panose="02020603050405020304" pitchFamily="18" charset="0"/>
                <a:cs typeface="Times New Roman" panose="02020603050405020304" pitchFamily="18" charset="0"/>
              </a:rPr>
              <a:t>Login Module</a:t>
            </a:r>
          </a:p>
          <a:p>
            <a:pPr marL="514350" indent="-514350" algn="just">
              <a:buAutoNum type="arabicPeriod"/>
            </a:pPr>
            <a:r>
              <a:rPr lang="en-US" dirty="0">
                <a:latin typeface="Times New Roman" panose="02020603050405020304" pitchFamily="18" charset="0"/>
                <a:cs typeface="Times New Roman" panose="02020603050405020304" pitchFamily="18" charset="0"/>
              </a:rPr>
              <a:t>Contact Management Module</a:t>
            </a:r>
          </a:p>
          <a:p>
            <a:pPr marL="514350" indent="-514350" algn="just">
              <a:buAutoNum type="arabicPeriod"/>
            </a:pPr>
            <a:r>
              <a:rPr lang="en-US" dirty="0">
                <a:latin typeface="Times New Roman" panose="02020603050405020304" pitchFamily="18" charset="0"/>
                <a:cs typeface="Times New Roman" panose="02020603050405020304" pitchFamily="18" charset="0"/>
              </a:rPr>
              <a:t>Search Module</a:t>
            </a:r>
          </a:p>
          <a:p>
            <a:pPr marL="514350" indent="-514350" algn="just">
              <a:buAutoNum type="arabicPeriod"/>
            </a:pPr>
            <a:r>
              <a:rPr lang="en-US" dirty="0">
                <a:latin typeface="Times New Roman" panose="02020603050405020304" pitchFamily="18" charset="0"/>
                <a:cs typeface="Times New Roman" panose="02020603050405020304" pitchFamily="18" charset="0"/>
              </a:rPr>
              <a:t>Reminder Module</a:t>
            </a:r>
          </a:p>
          <a:p>
            <a:pPr marL="514350" indent="-514350" algn="just">
              <a:buAutoNum type="arabicPeriod"/>
            </a:pPr>
            <a:r>
              <a:rPr lang="en-US" dirty="0">
                <a:latin typeface="Times New Roman" panose="02020603050405020304" pitchFamily="18" charset="0"/>
                <a:cs typeface="Times New Roman" panose="02020603050405020304" pitchFamily="18" charset="0"/>
              </a:rPr>
              <a:t>Database Module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8875189"/>
      </p:ext>
    </p:extLst>
  </p:cSld>
  <p:clrMapOvr>
    <a:masterClrMapping/>
  </p:clrMapOvr>
  <p:transition spd="slow">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vert="horz" anchor="b" anchorCtr="0">
            <a:normAutofit/>
          </a:bodyPr>
          <a:lstStyle/>
          <a:p>
            <a:pPr algn="ctr"/>
            <a:r>
              <a:rPr lang="en-IN" b="1" dirty="0">
                <a:solidFill>
                  <a:schemeClr val="tx1"/>
                </a:solidFill>
                <a:latin typeface="Times New Roman" pitchFamily="18" charset="0"/>
                <a:cs typeface="Times New Roman" pitchFamily="18" charset="0"/>
              </a:rPr>
              <a:t>Description of Modules</a:t>
            </a:r>
            <a:endParaRPr lang="en-US" b="1" dirty="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a:xfrm>
            <a:off x="2667000" y="4767263"/>
            <a:ext cx="4343400" cy="274320"/>
          </a:xfrm>
        </p:spPr>
        <p:txBody>
          <a:bodyPr/>
          <a:lstStyle/>
          <a:p>
            <a:pPr>
              <a:defRPr/>
            </a:pPr>
            <a:r>
              <a:rPr lang="en-US" sz="1200">
                <a:latin typeface="Times New Roman" pitchFamily="18" charset="0"/>
                <a:cs typeface="Times New Roman" pitchFamily="18" charset="0"/>
              </a:rPr>
              <a:t>END SEMESTER PROJECT REVIEW - APRIL / MAY 2026 </a:t>
            </a:r>
            <a:endParaRPr lang="en-US" sz="1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10</a:t>
            </a:fld>
            <a:endParaRPr lang="en-US" altLang="en-US"/>
          </a:p>
        </p:txBody>
      </p:sp>
      <p:sp>
        <p:nvSpPr>
          <p:cNvPr id="6" name="Date Placeholder 5">
            <a:extLst>
              <a:ext uri="{FF2B5EF4-FFF2-40B4-BE49-F238E27FC236}">
                <a16:creationId xmlns:a16="http://schemas.microsoft.com/office/drawing/2014/main" id="{67E1751B-10F6-3ACE-842A-A3AA88A38A0B}"/>
              </a:ext>
            </a:extLst>
          </p:cNvPr>
          <p:cNvSpPr>
            <a:spLocks noGrp="1"/>
          </p:cNvSpPr>
          <p:nvPr>
            <p:ph type="dt" sz="half" idx="10"/>
          </p:nvPr>
        </p:nvSpPr>
        <p:spPr>
          <a:xfrm>
            <a:off x="7083552" y="4771912"/>
            <a:ext cx="2289048" cy="274320"/>
          </a:xfrm>
        </p:spPr>
        <p:txBody>
          <a:bodyPr/>
          <a:lstStyle/>
          <a:p>
            <a:pPr>
              <a:defRPr/>
            </a:pPr>
            <a:r>
              <a:rPr lang="en-US"/>
              <a:t>04/06/2026</a:t>
            </a:r>
            <a:endParaRPr lang="en-US" dirty="0"/>
          </a:p>
        </p:txBody>
      </p:sp>
      <p:sp>
        <p:nvSpPr>
          <p:cNvPr id="7" name="Rectangle 2">
            <a:extLst>
              <a:ext uri="{FF2B5EF4-FFF2-40B4-BE49-F238E27FC236}">
                <a16:creationId xmlns:a16="http://schemas.microsoft.com/office/drawing/2014/main" id="{53CA6E44-6CC0-DBAD-05E7-E8542ECAD0C1}"/>
              </a:ext>
            </a:extLst>
          </p:cNvPr>
          <p:cNvSpPr>
            <a:spLocks noGrp="1" noChangeArrowheads="1"/>
          </p:cNvSpPr>
          <p:nvPr>
            <p:ph sz="quarter" idx="1"/>
          </p:nvPr>
        </p:nvSpPr>
        <p:spPr bwMode="auto">
          <a:xfrm>
            <a:off x="490603" y="812526"/>
            <a:ext cx="8229600" cy="423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sz="1400" b="1" dirty="0">
                <a:latin typeface="Times New Roman" panose="02020603050405020304" pitchFamily="18" charset="0"/>
                <a:cs typeface="Times New Roman" panose="02020603050405020304" pitchFamily="18" charset="0"/>
              </a:rPr>
              <a:t>1. Login Module</a:t>
            </a:r>
          </a:p>
          <a:p>
            <a:pPr marL="0" indent="0" algn="just">
              <a:buNone/>
            </a:pPr>
            <a:r>
              <a:rPr lang="en-US" sz="1400" dirty="0">
                <a:latin typeface="Times New Roman" panose="02020603050405020304" pitchFamily="18" charset="0"/>
                <a:cs typeface="Times New Roman" panose="02020603050405020304" pitchFamily="18" charset="0"/>
              </a:rPr>
              <a:t>	This module verifies user credentials for secure access. It also provides a password reset option using a security answer.</a:t>
            </a:r>
          </a:p>
          <a:p>
            <a:pPr marL="0" indent="0" algn="just">
              <a:buNone/>
            </a:pPr>
            <a:r>
              <a:rPr lang="en-US" sz="1400" b="1" dirty="0">
                <a:latin typeface="Times New Roman" panose="02020603050405020304" pitchFamily="18" charset="0"/>
                <a:cs typeface="Times New Roman" panose="02020603050405020304" pitchFamily="18" charset="0"/>
              </a:rPr>
              <a:t>2. Contact Management Module</a:t>
            </a:r>
          </a:p>
          <a:p>
            <a:pPr marL="0" indent="0" algn="just">
              <a:buNone/>
            </a:pPr>
            <a:r>
              <a:rPr lang="en-US" sz="1400" dirty="0">
                <a:latin typeface="Times New Roman" panose="02020603050405020304" pitchFamily="18" charset="0"/>
                <a:cs typeface="Times New Roman" panose="02020603050405020304" pitchFamily="18" charset="0"/>
              </a:rPr>
              <a:t>	This module allows adding, updating, and deleting contact details. It ensures proper validation of essential fields like name and phone number.</a:t>
            </a:r>
          </a:p>
          <a:p>
            <a:pPr marL="0" indent="0" algn="just">
              <a:buNone/>
            </a:pPr>
            <a:r>
              <a:rPr lang="en-US" sz="1400" b="1" dirty="0">
                <a:latin typeface="Times New Roman" panose="02020603050405020304" pitchFamily="18" charset="0"/>
                <a:cs typeface="Times New Roman" panose="02020603050405020304" pitchFamily="18" charset="0"/>
              </a:rPr>
              <a:t>3. Search Module</a:t>
            </a:r>
          </a:p>
          <a:p>
            <a:pPr marL="0" indent="0" algn="just">
              <a:buNone/>
            </a:pPr>
            <a:r>
              <a:rPr lang="en-US" sz="1400" dirty="0">
                <a:latin typeface="Times New Roman" panose="02020603050405020304" pitchFamily="18" charset="0"/>
                <a:cs typeface="Times New Roman" panose="02020603050405020304" pitchFamily="18" charset="0"/>
              </a:rPr>
              <a:t>	This module enables users to search contacts using keywords. It quickly displays matching results for easy access.</a:t>
            </a:r>
          </a:p>
          <a:p>
            <a:pPr marL="0" indent="0" algn="just">
              <a:buNone/>
            </a:pPr>
            <a:r>
              <a:rPr lang="en-US" sz="1400" b="1" dirty="0">
                <a:latin typeface="Times New Roman" panose="02020603050405020304" pitchFamily="18" charset="0"/>
                <a:cs typeface="Times New Roman" panose="02020603050405020304" pitchFamily="18" charset="0"/>
              </a:rPr>
              <a:t>4. Reminder Module</a:t>
            </a:r>
          </a:p>
          <a:p>
            <a:pPr marL="0" indent="0" algn="just">
              <a:buNone/>
            </a:pPr>
            <a:r>
              <a:rPr lang="en-US" sz="1400" dirty="0">
                <a:latin typeface="Times New Roman" panose="02020603050405020304" pitchFamily="18" charset="0"/>
                <a:cs typeface="Times New Roman" panose="02020603050405020304" pitchFamily="18" charset="0"/>
              </a:rPr>
              <a:t>	This module shows upcoming birthday reminders for contacts. It helps users remember important dates.</a:t>
            </a:r>
          </a:p>
          <a:p>
            <a:pPr marL="0" indent="0" algn="just">
              <a:buNone/>
            </a:pPr>
            <a:r>
              <a:rPr lang="en-US" sz="1400" b="1" dirty="0">
                <a:latin typeface="Times New Roman" panose="02020603050405020304" pitchFamily="18" charset="0"/>
                <a:cs typeface="Times New Roman" panose="02020603050405020304" pitchFamily="18" charset="0"/>
              </a:rPr>
              <a:t>5. Database Module</a:t>
            </a:r>
          </a:p>
          <a:p>
            <a:pPr marL="0" indent="0" algn="just">
              <a:buNone/>
            </a:pPr>
            <a:r>
              <a:rPr lang="en-US" sz="1400" dirty="0">
                <a:latin typeface="Times New Roman" panose="02020603050405020304" pitchFamily="18" charset="0"/>
                <a:cs typeface="Times New Roman" panose="02020603050405020304" pitchFamily="18" charset="0"/>
              </a:rPr>
              <a:t>	This module manages data storage using SQLite. It performs all database operations like insert, update, delete, and retrieve.</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2572665"/>
      </p:ext>
    </p:extLst>
  </p:cSld>
  <p:clrMapOvr>
    <a:masterClrMapping/>
  </p:clrMapOvr>
  <p:transition spd="slow">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vert="horz" anchor="b" anchorCtr="0">
            <a:normAutofit/>
          </a:bodyPr>
          <a:lstStyle/>
          <a:p>
            <a:pPr algn="ctr"/>
            <a:r>
              <a:rPr lang="en-IN" b="1" dirty="0">
                <a:solidFill>
                  <a:schemeClr val="tx1"/>
                </a:solidFill>
                <a:latin typeface="Times New Roman" pitchFamily="18" charset="0"/>
                <a:cs typeface="Times New Roman" pitchFamily="18" charset="0"/>
              </a:rPr>
              <a:t>Results and Discussion</a:t>
            </a:r>
            <a:endParaRPr lang="en-US" b="1" dirty="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a:xfrm>
            <a:off x="2667000" y="4767263"/>
            <a:ext cx="4343400" cy="274320"/>
          </a:xfrm>
        </p:spPr>
        <p:txBody>
          <a:bodyPr/>
          <a:lstStyle/>
          <a:p>
            <a:pPr>
              <a:defRPr/>
            </a:pPr>
            <a:r>
              <a:rPr lang="en-US" sz="1200">
                <a:latin typeface="Times New Roman" pitchFamily="18" charset="0"/>
                <a:cs typeface="Times New Roman" pitchFamily="18" charset="0"/>
              </a:rPr>
              <a:t>END SEMESTER PROJECT REVIEW - APRIL / MAY 2026 </a:t>
            </a:r>
            <a:endParaRPr lang="en-US" sz="1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11</a:t>
            </a:fld>
            <a:endParaRPr lang="en-US" altLang="en-US"/>
          </a:p>
        </p:txBody>
      </p:sp>
      <p:sp>
        <p:nvSpPr>
          <p:cNvPr id="5" name="Content Placeholder 4"/>
          <p:cNvSpPr>
            <a:spLocks noGrp="1"/>
          </p:cNvSpPr>
          <p:nvPr>
            <p:ph sz="quarter" idx="1"/>
          </p:nvPr>
        </p:nvSpPr>
        <p:spPr>
          <a:xfrm>
            <a:off x="457200" y="914400"/>
            <a:ext cx="4114800" cy="3703320"/>
          </a:xfrm>
        </p:spPr>
        <p:txBody>
          <a:bodyPr/>
          <a:lstStyle/>
          <a:p>
            <a:pPr marL="0" indent="0">
              <a:buNone/>
            </a:pPr>
            <a:r>
              <a:rPr lang="en-US" b="1" dirty="0">
                <a:latin typeface="Times New Roman" pitchFamily="18" charset="0"/>
                <a:cs typeface="Times New Roman" pitchFamily="18" charset="0"/>
              </a:rPr>
              <a:t>Output Screenshot:</a:t>
            </a:r>
          </a:p>
        </p:txBody>
      </p:sp>
      <p:sp>
        <p:nvSpPr>
          <p:cNvPr id="6" name="Content Placeholder 4"/>
          <p:cNvSpPr txBox="1">
            <a:spLocks/>
          </p:cNvSpPr>
          <p:nvPr/>
        </p:nvSpPr>
        <p:spPr>
          <a:xfrm>
            <a:off x="4724400" y="971550"/>
            <a:ext cx="3962400" cy="3703320"/>
          </a:xfrm>
          <a:prstGeom prst="rect">
            <a:avLst/>
          </a:prstGeom>
        </p:spPr>
        <p:txBody>
          <a:bodyPr vert="horz">
            <a:normAutofit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b="1" dirty="0">
                <a:latin typeface="Times New Roman" pitchFamily="18" charset="0"/>
                <a:cs typeface="Times New Roman" pitchFamily="18" charset="0"/>
              </a:rPr>
              <a:t>Description:</a:t>
            </a:r>
          </a:p>
          <a:p>
            <a:pPr marL="0" indent="0">
              <a:lnSpc>
                <a:spcPct val="150000"/>
              </a:lnSpc>
              <a:buNone/>
            </a:pPr>
            <a:r>
              <a:rPr lang="en-US" sz="2400" dirty="0">
                <a:latin typeface="Times New Roman" pitchFamily="18" charset="0"/>
                <a:cs typeface="Times New Roman" pitchFamily="18" charset="0"/>
              </a:rPr>
              <a:t>This screen serves as the secure gateway to the system, featuring a modern branded header and a credential input panel with a "Forgot Password" recovery option.</a:t>
            </a:r>
          </a:p>
        </p:txBody>
      </p:sp>
      <p:sp>
        <p:nvSpPr>
          <p:cNvPr id="7" name="Date Placeholder 6">
            <a:extLst>
              <a:ext uri="{FF2B5EF4-FFF2-40B4-BE49-F238E27FC236}">
                <a16:creationId xmlns:a16="http://schemas.microsoft.com/office/drawing/2014/main" id="{9AB76837-89A1-BD32-BF6F-9A2768993E60}"/>
              </a:ext>
            </a:extLst>
          </p:cNvPr>
          <p:cNvSpPr>
            <a:spLocks noGrp="1"/>
          </p:cNvSpPr>
          <p:nvPr>
            <p:ph type="dt" sz="half" idx="10"/>
          </p:nvPr>
        </p:nvSpPr>
        <p:spPr>
          <a:xfrm>
            <a:off x="7083552" y="4768797"/>
            <a:ext cx="2289048" cy="274320"/>
          </a:xfrm>
        </p:spPr>
        <p:txBody>
          <a:bodyPr/>
          <a:lstStyle/>
          <a:p>
            <a:pPr>
              <a:defRPr/>
            </a:pPr>
            <a:r>
              <a:rPr lang="en-US"/>
              <a:t>04/06/2026</a:t>
            </a:r>
            <a:endParaRPr lang="en-US" dirty="0"/>
          </a:p>
        </p:txBody>
      </p:sp>
      <p:pic>
        <p:nvPicPr>
          <p:cNvPr id="11" name="Picture 10">
            <a:extLst>
              <a:ext uri="{FF2B5EF4-FFF2-40B4-BE49-F238E27FC236}">
                <a16:creationId xmlns:a16="http://schemas.microsoft.com/office/drawing/2014/main" id="{7702606F-3C78-B648-A301-58F4102430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4051" y="1538820"/>
            <a:ext cx="4151209" cy="2633130"/>
          </a:xfrm>
          <a:prstGeom prst="rect">
            <a:avLst/>
          </a:prstGeom>
        </p:spPr>
      </p:pic>
    </p:spTree>
    <p:extLst>
      <p:ext uri="{BB962C8B-B14F-4D97-AF65-F5344CB8AC3E}">
        <p14:creationId xmlns:p14="http://schemas.microsoft.com/office/powerpoint/2010/main" val="150334564"/>
      </p:ext>
    </p:extLst>
  </p:cSld>
  <p:clrMapOvr>
    <a:masterClrMapping/>
  </p:clrMapOvr>
  <p:transition spd="slow">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vert="horz" anchor="b" anchorCtr="0">
            <a:normAutofit/>
          </a:bodyPr>
          <a:lstStyle/>
          <a:p>
            <a:pPr algn="ctr"/>
            <a:r>
              <a:rPr lang="en-IN" b="1" dirty="0">
                <a:solidFill>
                  <a:schemeClr val="tx1"/>
                </a:solidFill>
                <a:latin typeface="Times New Roman" pitchFamily="18" charset="0"/>
                <a:cs typeface="Times New Roman" pitchFamily="18" charset="0"/>
              </a:rPr>
              <a:t>Results and Discussion(Cont..)</a:t>
            </a:r>
            <a:endParaRPr lang="en-US" b="1" dirty="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a:xfrm>
            <a:off x="2667000" y="4767263"/>
            <a:ext cx="4343400" cy="274320"/>
          </a:xfrm>
        </p:spPr>
        <p:txBody>
          <a:bodyPr/>
          <a:lstStyle/>
          <a:p>
            <a:pPr>
              <a:defRPr/>
            </a:pPr>
            <a:r>
              <a:rPr lang="en-US" sz="1200">
                <a:latin typeface="Times New Roman" pitchFamily="18" charset="0"/>
                <a:cs typeface="Times New Roman" pitchFamily="18" charset="0"/>
              </a:rPr>
              <a:t>END SEMESTER PROJECT REVIEW - APRIL / MAY 2026 </a:t>
            </a:r>
            <a:endParaRPr lang="en-US" sz="1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12</a:t>
            </a:fld>
            <a:endParaRPr lang="en-US" altLang="en-US"/>
          </a:p>
        </p:txBody>
      </p:sp>
      <p:sp>
        <p:nvSpPr>
          <p:cNvPr id="5" name="Content Placeholder 4"/>
          <p:cNvSpPr>
            <a:spLocks noGrp="1"/>
          </p:cNvSpPr>
          <p:nvPr>
            <p:ph sz="quarter" idx="1"/>
          </p:nvPr>
        </p:nvSpPr>
        <p:spPr>
          <a:xfrm>
            <a:off x="381000" y="895350"/>
            <a:ext cx="4114800" cy="3703320"/>
          </a:xfrm>
        </p:spPr>
        <p:txBody>
          <a:bodyPr/>
          <a:lstStyle/>
          <a:p>
            <a:pPr marL="0" indent="0">
              <a:buNone/>
            </a:pPr>
            <a:r>
              <a:rPr lang="en-US" b="1" dirty="0">
                <a:latin typeface="Times New Roman" pitchFamily="18" charset="0"/>
                <a:cs typeface="Times New Roman" pitchFamily="18" charset="0"/>
              </a:rPr>
              <a:t>Output Screenshot:</a:t>
            </a:r>
          </a:p>
          <a:p>
            <a:pPr marL="0" indent="0">
              <a:buNone/>
            </a:pPr>
            <a:endParaRPr lang="en-US" b="1" dirty="0">
              <a:latin typeface="Times New Roman" pitchFamily="18" charset="0"/>
              <a:cs typeface="Times New Roman" pitchFamily="18" charset="0"/>
            </a:endParaRPr>
          </a:p>
        </p:txBody>
      </p:sp>
      <p:sp>
        <p:nvSpPr>
          <p:cNvPr id="6" name="Content Placeholder 4"/>
          <p:cNvSpPr txBox="1">
            <a:spLocks/>
          </p:cNvSpPr>
          <p:nvPr/>
        </p:nvSpPr>
        <p:spPr>
          <a:xfrm>
            <a:off x="4724400" y="971550"/>
            <a:ext cx="3962400" cy="3703320"/>
          </a:xfrm>
          <a:prstGeom prst="rect">
            <a:avLst/>
          </a:prstGeom>
        </p:spPr>
        <p:txBody>
          <a:bodyPr vert="horz">
            <a:normAutofit fontScale="925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b="1" dirty="0">
                <a:latin typeface="Times New Roman" pitchFamily="18" charset="0"/>
                <a:cs typeface="Times New Roman" pitchFamily="18" charset="0"/>
              </a:rPr>
              <a:t>Description:</a:t>
            </a:r>
          </a:p>
          <a:p>
            <a:pPr marL="0" indent="0">
              <a:lnSpc>
                <a:spcPct val="150000"/>
              </a:lnSpc>
              <a:buNone/>
            </a:pPr>
            <a:r>
              <a:rPr lang="en-US" sz="2400" dirty="0">
                <a:latin typeface="Times New Roman" pitchFamily="18" charset="0"/>
                <a:cs typeface="Times New Roman" pitchFamily="18" charset="0"/>
              </a:rPr>
              <a:t>This is the primary management hub where users can input detailed contact information, such as social IDs and reminders, into a structured, wide-screen data grid.</a:t>
            </a:r>
          </a:p>
          <a:p>
            <a:pPr marL="0" indent="0">
              <a:buNone/>
            </a:pPr>
            <a:endParaRPr lang="en-US" b="1" dirty="0">
              <a:latin typeface="Times New Roman" pitchFamily="18" charset="0"/>
              <a:cs typeface="Times New Roman" pitchFamily="18" charset="0"/>
            </a:endParaRPr>
          </a:p>
        </p:txBody>
      </p:sp>
      <p:sp>
        <p:nvSpPr>
          <p:cNvPr id="7" name="Date Placeholder 6">
            <a:extLst>
              <a:ext uri="{FF2B5EF4-FFF2-40B4-BE49-F238E27FC236}">
                <a16:creationId xmlns:a16="http://schemas.microsoft.com/office/drawing/2014/main" id="{E9747B3C-4BE9-EE62-CC7A-689249C4EBB2}"/>
              </a:ext>
            </a:extLst>
          </p:cNvPr>
          <p:cNvSpPr>
            <a:spLocks noGrp="1"/>
          </p:cNvSpPr>
          <p:nvPr>
            <p:ph type="dt" sz="half" idx="10"/>
          </p:nvPr>
        </p:nvSpPr>
        <p:spPr>
          <a:xfrm>
            <a:off x="7010400" y="4771912"/>
            <a:ext cx="2289048" cy="274320"/>
          </a:xfrm>
        </p:spPr>
        <p:txBody>
          <a:bodyPr/>
          <a:lstStyle/>
          <a:p>
            <a:pPr>
              <a:defRPr/>
            </a:pPr>
            <a:r>
              <a:rPr lang="en-US"/>
              <a:t>04/06/2026</a:t>
            </a:r>
            <a:endParaRPr lang="en-US" dirty="0"/>
          </a:p>
        </p:txBody>
      </p:sp>
      <p:pic>
        <p:nvPicPr>
          <p:cNvPr id="11" name="Picture 10">
            <a:extLst>
              <a:ext uri="{FF2B5EF4-FFF2-40B4-BE49-F238E27FC236}">
                <a16:creationId xmlns:a16="http://schemas.microsoft.com/office/drawing/2014/main" id="{B919887E-CA15-A980-4AE0-02A6CC10A2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6985" y="1701560"/>
            <a:ext cx="4422176" cy="2249111"/>
          </a:xfrm>
          <a:prstGeom prst="rect">
            <a:avLst/>
          </a:prstGeom>
        </p:spPr>
      </p:pic>
    </p:spTree>
    <p:extLst>
      <p:ext uri="{BB962C8B-B14F-4D97-AF65-F5344CB8AC3E}">
        <p14:creationId xmlns:p14="http://schemas.microsoft.com/office/powerpoint/2010/main" val="47693511"/>
      </p:ext>
    </p:extLst>
  </p:cSld>
  <p:clrMapOvr>
    <a:masterClrMapping/>
  </p:clrMapOvr>
  <p:transition spd="slow">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vert="horz" anchor="b" anchorCtr="0">
            <a:normAutofit/>
          </a:bodyPr>
          <a:lstStyle/>
          <a:p>
            <a:pPr algn="ctr"/>
            <a:r>
              <a:rPr lang="en-IN" b="1" dirty="0">
                <a:solidFill>
                  <a:schemeClr val="tx1"/>
                </a:solidFill>
                <a:latin typeface="Times New Roman" pitchFamily="18" charset="0"/>
                <a:cs typeface="Times New Roman" pitchFamily="18" charset="0"/>
              </a:rPr>
              <a:t>Results and Discussion(Cont..)</a:t>
            </a:r>
            <a:endParaRPr lang="en-US" b="1" dirty="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a:xfrm>
            <a:off x="2667000" y="4767263"/>
            <a:ext cx="4343400" cy="274320"/>
          </a:xfrm>
        </p:spPr>
        <p:txBody>
          <a:bodyPr/>
          <a:lstStyle/>
          <a:p>
            <a:pPr>
              <a:defRPr/>
            </a:pPr>
            <a:r>
              <a:rPr lang="en-US" sz="1200">
                <a:latin typeface="Times New Roman" pitchFamily="18" charset="0"/>
                <a:cs typeface="Times New Roman" pitchFamily="18" charset="0"/>
              </a:rPr>
              <a:t>END SEMESTER PROJECT REVIEW - APRIL / MAY 2026 </a:t>
            </a:r>
            <a:endParaRPr lang="en-US" sz="1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13</a:t>
            </a:fld>
            <a:endParaRPr lang="en-US" altLang="en-US"/>
          </a:p>
        </p:txBody>
      </p:sp>
      <p:sp>
        <p:nvSpPr>
          <p:cNvPr id="5" name="Content Placeholder 4"/>
          <p:cNvSpPr>
            <a:spLocks noGrp="1"/>
          </p:cNvSpPr>
          <p:nvPr>
            <p:ph sz="quarter" idx="1"/>
          </p:nvPr>
        </p:nvSpPr>
        <p:spPr>
          <a:xfrm>
            <a:off x="381000" y="895350"/>
            <a:ext cx="4114800" cy="3703320"/>
          </a:xfrm>
        </p:spPr>
        <p:txBody>
          <a:bodyPr/>
          <a:lstStyle/>
          <a:p>
            <a:pPr marL="0" indent="0">
              <a:buNone/>
            </a:pPr>
            <a:r>
              <a:rPr lang="en-US" b="1" dirty="0">
                <a:latin typeface="Times New Roman" pitchFamily="18" charset="0"/>
                <a:cs typeface="Times New Roman" pitchFamily="18" charset="0"/>
              </a:rPr>
              <a:t>Output Screenshot:</a:t>
            </a:r>
          </a:p>
          <a:p>
            <a:pPr marL="0" indent="0">
              <a:buNone/>
            </a:pPr>
            <a:endParaRPr lang="en-US" b="1" dirty="0">
              <a:latin typeface="Times New Roman" pitchFamily="18" charset="0"/>
              <a:cs typeface="Times New Roman" pitchFamily="18" charset="0"/>
            </a:endParaRPr>
          </a:p>
        </p:txBody>
      </p:sp>
      <p:sp>
        <p:nvSpPr>
          <p:cNvPr id="6" name="Content Placeholder 4"/>
          <p:cNvSpPr txBox="1">
            <a:spLocks/>
          </p:cNvSpPr>
          <p:nvPr/>
        </p:nvSpPr>
        <p:spPr>
          <a:xfrm>
            <a:off x="4800600" y="976191"/>
            <a:ext cx="3962400" cy="3703320"/>
          </a:xfrm>
          <a:prstGeom prst="rect">
            <a:avLst/>
          </a:prstGeom>
        </p:spPr>
        <p:txBody>
          <a:bodyPr vert="horz">
            <a:normAutofit fontScale="925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b="1" dirty="0">
                <a:latin typeface="Times New Roman" pitchFamily="18" charset="0"/>
                <a:cs typeface="Times New Roman" pitchFamily="18" charset="0"/>
              </a:rPr>
              <a:t>Description:</a:t>
            </a:r>
          </a:p>
          <a:p>
            <a:pPr marL="0" indent="0">
              <a:lnSpc>
                <a:spcPct val="150000"/>
              </a:lnSpc>
              <a:buNone/>
            </a:pPr>
            <a:r>
              <a:rPr lang="en-US" sz="2400" dirty="0">
                <a:latin typeface="Times New Roman" pitchFamily="18" charset="0"/>
                <a:cs typeface="Times New Roman" pitchFamily="18" charset="0"/>
              </a:rPr>
              <a:t>This view demonstrates the successful retrieval of data from the SQLite database, displaying saved contact records like "Anu S" in a clean, professional table format.</a:t>
            </a:r>
          </a:p>
          <a:p>
            <a:pPr marL="0" indent="0">
              <a:buNone/>
            </a:pPr>
            <a:endParaRPr lang="en-US" b="1" dirty="0">
              <a:latin typeface="Times New Roman" pitchFamily="18" charset="0"/>
              <a:cs typeface="Times New Roman" pitchFamily="18" charset="0"/>
            </a:endParaRPr>
          </a:p>
        </p:txBody>
      </p:sp>
      <p:sp>
        <p:nvSpPr>
          <p:cNvPr id="7" name="Date Placeholder 6">
            <a:extLst>
              <a:ext uri="{FF2B5EF4-FFF2-40B4-BE49-F238E27FC236}">
                <a16:creationId xmlns:a16="http://schemas.microsoft.com/office/drawing/2014/main" id="{BDD1CC5A-1646-13E4-9CE0-4EC25F2428D0}"/>
              </a:ext>
            </a:extLst>
          </p:cNvPr>
          <p:cNvSpPr>
            <a:spLocks noGrp="1"/>
          </p:cNvSpPr>
          <p:nvPr>
            <p:ph type="dt" sz="half" idx="10"/>
          </p:nvPr>
        </p:nvSpPr>
        <p:spPr>
          <a:xfrm>
            <a:off x="7018149" y="4748665"/>
            <a:ext cx="2289048" cy="274320"/>
          </a:xfrm>
        </p:spPr>
        <p:txBody>
          <a:bodyPr/>
          <a:lstStyle/>
          <a:p>
            <a:pPr>
              <a:defRPr/>
            </a:pPr>
            <a:r>
              <a:rPr lang="en-US"/>
              <a:t>04/06/2026</a:t>
            </a:r>
            <a:endParaRPr lang="en-US" dirty="0"/>
          </a:p>
        </p:txBody>
      </p:sp>
      <p:pic>
        <p:nvPicPr>
          <p:cNvPr id="9" name="Picture 8">
            <a:extLst>
              <a:ext uri="{FF2B5EF4-FFF2-40B4-BE49-F238E27FC236}">
                <a16:creationId xmlns:a16="http://schemas.microsoft.com/office/drawing/2014/main" id="{E331C228-C527-1C39-047E-A026B17BDD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1000" y="1634103"/>
            <a:ext cx="4419157" cy="2571750"/>
          </a:xfrm>
          <a:prstGeom prst="rect">
            <a:avLst/>
          </a:prstGeom>
        </p:spPr>
      </p:pic>
    </p:spTree>
    <p:extLst>
      <p:ext uri="{BB962C8B-B14F-4D97-AF65-F5344CB8AC3E}">
        <p14:creationId xmlns:p14="http://schemas.microsoft.com/office/powerpoint/2010/main" val="2972835440"/>
      </p:ext>
    </p:extLst>
  </p:cSld>
  <p:clrMapOvr>
    <a:masterClrMapping/>
  </p:clrMapOvr>
  <p:transition spd="slow">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5450"/>
            <a:ext cx="8229600" cy="742950"/>
          </a:xfrm>
          <a:solidFill>
            <a:schemeClr val="bg2">
              <a:lumMod val="75000"/>
            </a:schemeClr>
          </a:solidFill>
        </p:spPr>
        <p:txBody>
          <a:bodyPr vert="horz" anchor="b" anchorCtr="0">
            <a:normAutofit/>
          </a:bodyPr>
          <a:lstStyle/>
          <a:p>
            <a:pPr algn="ctr"/>
            <a:r>
              <a:rPr lang="en-IN" b="1" dirty="0">
                <a:solidFill>
                  <a:schemeClr val="tx1"/>
                </a:solidFill>
                <a:latin typeface="Times New Roman" pitchFamily="18" charset="0"/>
                <a:cs typeface="Times New Roman" pitchFamily="18" charset="0"/>
              </a:rPr>
              <a:t>Conclusion</a:t>
            </a:r>
            <a:endParaRPr lang="en-US" b="1" dirty="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a:xfrm>
            <a:off x="2667000" y="4767263"/>
            <a:ext cx="4343400" cy="274320"/>
          </a:xfrm>
        </p:spPr>
        <p:txBody>
          <a:bodyPr/>
          <a:lstStyle/>
          <a:p>
            <a:pPr>
              <a:defRPr/>
            </a:pPr>
            <a:r>
              <a:rPr lang="en-US" sz="1200">
                <a:latin typeface="Times New Roman" pitchFamily="18" charset="0"/>
                <a:cs typeface="Times New Roman" pitchFamily="18" charset="0"/>
              </a:rPr>
              <a:t>END SEMESTER PROJECT REVIEW - APRIL / MAY 2026 </a:t>
            </a:r>
            <a:endParaRPr lang="en-US" sz="1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14</a:t>
            </a:fld>
            <a:endParaRPr lang="en-US" altLang="en-US"/>
          </a:p>
        </p:txBody>
      </p:sp>
      <p:sp>
        <p:nvSpPr>
          <p:cNvPr id="5" name="Content Placeholder 4"/>
          <p:cNvSpPr>
            <a:spLocks noGrp="1"/>
          </p:cNvSpPr>
          <p:nvPr>
            <p:ph sz="quarter" idx="1"/>
          </p:nvPr>
        </p:nvSpPr>
        <p:spPr>
          <a:xfrm>
            <a:off x="457200" y="940813"/>
            <a:ext cx="8229600" cy="3703320"/>
          </a:xfrm>
        </p:spPr>
        <p:txBody>
          <a:bodyPr>
            <a:noAutofit/>
          </a:bodyPr>
          <a:lstStyle/>
          <a:p>
            <a:pPr marL="0" indent="0" algn="just">
              <a:lnSpc>
                <a:spcPct val="150000"/>
              </a:lnSpc>
              <a:buNone/>
            </a:pPr>
            <a:r>
              <a:rPr lang="en-US" sz="1550" dirty="0">
                <a:latin typeface="Times New Roman" panose="02020603050405020304" pitchFamily="18" charset="0"/>
                <a:cs typeface="Times New Roman" panose="02020603050405020304" pitchFamily="18" charset="0"/>
              </a:rPr>
              <a:t>The Contact Management System developed using Python successfully provides an efficient solution for storing and managing contact details digitally. The project demonstrates the effective use of Python programming concepts, GUI development with </a:t>
            </a:r>
            <a:r>
              <a:rPr lang="en-US" sz="1550" dirty="0" err="1">
                <a:latin typeface="Times New Roman" panose="02020603050405020304" pitchFamily="18" charset="0"/>
                <a:cs typeface="Times New Roman" panose="02020603050405020304" pitchFamily="18" charset="0"/>
              </a:rPr>
              <a:t>Tkinter</a:t>
            </a:r>
            <a:r>
              <a:rPr lang="en-US" sz="1550" dirty="0">
                <a:latin typeface="Times New Roman" panose="02020603050405020304" pitchFamily="18" charset="0"/>
                <a:cs typeface="Times New Roman" panose="02020603050405020304" pitchFamily="18" charset="0"/>
              </a:rPr>
              <a:t>, and database management using SQLite. Through this system, users can easily add, view, update, and delete contacts in a secure and organized manner. The application improves data accessibility, reduces manual record maintenance, and enhances user convenience through a simple graphical interface. The project also helps in understanding real-world application development by integrating programming logic, user interaction, and database operations into a single system. Overall, the Contact Management System is reliable, easy to maintain, and can be further enhanced with additional features such as search functionality, password protection, cloud storage, and mobile support in future developments.</a:t>
            </a:r>
          </a:p>
        </p:txBody>
      </p:sp>
      <p:sp>
        <p:nvSpPr>
          <p:cNvPr id="6" name="Date Placeholder 5">
            <a:extLst>
              <a:ext uri="{FF2B5EF4-FFF2-40B4-BE49-F238E27FC236}">
                <a16:creationId xmlns:a16="http://schemas.microsoft.com/office/drawing/2014/main" id="{80F7606B-F82E-5234-9DC3-3AE08736498E}"/>
              </a:ext>
            </a:extLst>
          </p:cNvPr>
          <p:cNvSpPr>
            <a:spLocks noGrp="1"/>
          </p:cNvSpPr>
          <p:nvPr>
            <p:ph type="dt" sz="half" idx="10"/>
          </p:nvPr>
        </p:nvSpPr>
        <p:spPr>
          <a:xfrm>
            <a:off x="7113257" y="4776546"/>
            <a:ext cx="2289048" cy="274320"/>
          </a:xfrm>
        </p:spPr>
        <p:txBody>
          <a:bodyPr/>
          <a:lstStyle/>
          <a:p>
            <a:pPr>
              <a:defRPr/>
            </a:pPr>
            <a:r>
              <a:rPr lang="en-US"/>
              <a:t>04/06/2026</a:t>
            </a:r>
            <a:endParaRPr lang="en-US" dirty="0"/>
          </a:p>
        </p:txBody>
      </p:sp>
    </p:spTree>
    <p:extLst>
      <p:ext uri="{BB962C8B-B14F-4D97-AF65-F5344CB8AC3E}">
        <p14:creationId xmlns:p14="http://schemas.microsoft.com/office/powerpoint/2010/main" val="466032519"/>
      </p:ext>
    </p:extLst>
  </p:cSld>
  <p:clrMapOvr>
    <a:masterClrMapping/>
  </p:clrMapOvr>
  <p:transition spd="slow">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41377AE-5B94-C1F2-E1C0-17E77BBFB9DA}"/>
              </a:ext>
            </a:extLst>
          </p:cNvPr>
          <p:cNvSpPr>
            <a:spLocks noGrp="1"/>
          </p:cNvSpPr>
          <p:nvPr>
            <p:ph type="title"/>
          </p:nvPr>
        </p:nvSpPr>
        <p:spPr>
          <a:solidFill>
            <a:schemeClr val="bg2">
              <a:lumMod val="75000"/>
            </a:schemeClr>
          </a:solidFill>
        </p:spPr>
        <p:txBody>
          <a:bodyPr>
            <a:normAutofit fontScale="90000"/>
          </a:bodyPr>
          <a:lstStyle/>
          <a:p>
            <a:pPr algn="ctr"/>
            <a:r>
              <a:rPr lang="en-IN" sz="4400" b="1" dirty="0">
                <a:solidFill>
                  <a:schemeClr val="tx1"/>
                </a:solidFill>
                <a:latin typeface="Times New Roman" pitchFamily="18" charset="0"/>
                <a:cs typeface="Times New Roman" pitchFamily="18" charset="0"/>
              </a:rPr>
              <a:t>Thank  You</a:t>
            </a:r>
            <a:endParaRPr lang="en-IN" sz="4000" b="1" dirty="0">
              <a:solidFill>
                <a:schemeClr val="tx1"/>
              </a:solidFill>
              <a:latin typeface="Times New Roman" pitchFamily="18" charset="0"/>
              <a:cs typeface="Times New Roman" pitchFamily="18" charset="0"/>
            </a:endParaRPr>
          </a:p>
        </p:txBody>
      </p:sp>
      <p:sp>
        <p:nvSpPr>
          <p:cNvPr id="3" name="Footer Placeholder 2">
            <a:extLst>
              <a:ext uri="{FF2B5EF4-FFF2-40B4-BE49-F238E27FC236}">
                <a16:creationId xmlns:a16="http://schemas.microsoft.com/office/drawing/2014/main" id="{BA3FD61F-805B-E389-F2B7-0A0B2F9D8150}"/>
              </a:ext>
            </a:extLst>
          </p:cNvPr>
          <p:cNvSpPr>
            <a:spLocks noGrp="1"/>
          </p:cNvSpPr>
          <p:nvPr>
            <p:ph type="ftr" sz="quarter" idx="11"/>
          </p:nvPr>
        </p:nvSpPr>
        <p:spPr>
          <a:xfrm>
            <a:off x="2743200" y="4767263"/>
            <a:ext cx="4340352" cy="376237"/>
          </a:xfrm>
        </p:spPr>
        <p:txBody>
          <a:bodyPr/>
          <a:lstStyle/>
          <a:p>
            <a:pPr>
              <a:defRPr/>
            </a:pPr>
            <a:r>
              <a:rPr lang="en-US" sz="1200">
                <a:latin typeface="Times New Roman" pitchFamily="18" charset="0"/>
                <a:cs typeface="Times New Roman" pitchFamily="18" charset="0"/>
              </a:rPr>
              <a:t>END SEMESTER PROJECT REVIEW - APRIL / MAY 2026 </a:t>
            </a:r>
            <a:endParaRPr lang="en-US" sz="1200"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1DB88336-4666-251E-4707-607718066E56}"/>
              </a:ext>
            </a:extLst>
          </p:cNvPr>
          <p:cNvSpPr>
            <a:spLocks noGrp="1"/>
          </p:cNvSpPr>
          <p:nvPr>
            <p:ph type="sldNum" sz="quarter" idx="12"/>
          </p:nvPr>
        </p:nvSpPr>
        <p:spPr/>
        <p:txBody>
          <a:bodyPr/>
          <a:lstStyle/>
          <a:p>
            <a:pPr>
              <a:defRPr/>
            </a:pPr>
            <a:fld id="{4CE540F1-D866-4735-9E65-A1952EADD02D}" type="slidenum">
              <a:rPr lang="en-US" altLang="en-US" smtClean="0"/>
              <a:pPr>
                <a:defRPr/>
              </a:pPr>
              <a:t>15</a:t>
            </a:fld>
            <a:endParaRPr lang="en-US" altLang="en-US" dirty="0"/>
          </a:p>
        </p:txBody>
      </p:sp>
      <p:sp>
        <p:nvSpPr>
          <p:cNvPr id="6" name="Title 1">
            <a:extLst>
              <a:ext uri="{FF2B5EF4-FFF2-40B4-BE49-F238E27FC236}">
                <a16:creationId xmlns:a16="http://schemas.microsoft.com/office/drawing/2014/main" id="{C622646B-3CDF-929A-2318-D91165119579}"/>
              </a:ext>
            </a:extLst>
          </p:cNvPr>
          <p:cNvSpPr txBox="1">
            <a:spLocks/>
          </p:cNvSpPr>
          <p:nvPr/>
        </p:nvSpPr>
        <p:spPr>
          <a:xfrm>
            <a:off x="0" y="2099871"/>
            <a:ext cx="9144000" cy="1664258"/>
          </a:xfrm>
          <a:prstGeom prst="rect">
            <a:avLst/>
          </a:prstGeom>
          <a:solidFill>
            <a:schemeClr val="accent3">
              <a:lumMod val="40000"/>
              <a:lumOff val="60000"/>
            </a:schemeClr>
          </a:solidFill>
        </p:spPr>
        <p:txBody>
          <a:bodyPr>
            <a:normAutofit/>
          </a:bodyPr>
          <a:lstStyle>
            <a:lvl1pPr algn="l" defTabSz="342900" rtl="0" eaLnBrk="1" latinLnBrk="0" hangingPunct="1">
              <a:spcBef>
                <a:spcPct val="0"/>
              </a:spcBef>
              <a:buNone/>
              <a:defRPr sz="21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defRPr/>
            </a:pPr>
            <a:endParaRPr lang="en-IN" sz="3600" dirty="0"/>
          </a:p>
          <a:p>
            <a:pPr algn="ctr">
              <a:defRPr/>
            </a:pPr>
            <a:r>
              <a:rPr lang="en-IN" sz="3600" b="1" dirty="0">
                <a:solidFill>
                  <a:schemeClr val="tx1"/>
                </a:solidFill>
                <a:latin typeface="Times New Roman" pitchFamily="18" charset="0"/>
                <a:cs typeface="Times New Roman" pitchFamily="18" charset="0"/>
              </a:rPr>
              <a:t>Any queries??? </a:t>
            </a:r>
          </a:p>
        </p:txBody>
      </p:sp>
      <p:sp>
        <p:nvSpPr>
          <p:cNvPr id="2" name="Date Placeholder 1">
            <a:extLst>
              <a:ext uri="{FF2B5EF4-FFF2-40B4-BE49-F238E27FC236}">
                <a16:creationId xmlns:a16="http://schemas.microsoft.com/office/drawing/2014/main" id="{355BFE60-6E82-A4D3-58C6-4B03959C5E4E}"/>
              </a:ext>
            </a:extLst>
          </p:cNvPr>
          <p:cNvSpPr>
            <a:spLocks noGrp="1"/>
          </p:cNvSpPr>
          <p:nvPr>
            <p:ph type="dt" sz="half" idx="10"/>
          </p:nvPr>
        </p:nvSpPr>
        <p:spPr>
          <a:xfrm>
            <a:off x="7083552" y="4767263"/>
            <a:ext cx="2289048" cy="274320"/>
          </a:xfrm>
        </p:spPr>
        <p:txBody>
          <a:bodyPr/>
          <a:lstStyle/>
          <a:p>
            <a:pPr>
              <a:defRPr/>
            </a:pPr>
            <a:r>
              <a:rPr lang="en-US"/>
              <a:t>04/06/2026</a:t>
            </a:r>
            <a:endParaRPr lang="en-US" dirty="0"/>
          </a:p>
        </p:txBody>
      </p:sp>
    </p:spTree>
    <p:extLst>
      <p:ext uri="{BB962C8B-B14F-4D97-AF65-F5344CB8AC3E}">
        <p14:creationId xmlns:p14="http://schemas.microsoft.com/office/powerpoint/2010/main" val="4281137357"/>
      </p:ext>
    </p:extLst>
  </p:cSld>
  <p:clrMapOvr>
    <a:masterClrMapping/>
  </p:clrMapOvr>
  <p:transition spd="slow">
    <p:split orient="vert"/>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206</TotalTime>
  <Words>1389</Words>
  <Application>Microsoft Office PowerPoint</Application>
  <PresentationFormat>On-screen Show (16:9)</PresentationFormat>
  <Paragraphs>140</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Bookman Old Style</vt:lpstr>
      <vt:lpstr>Calibri</vt:lpstr>
      <vt:lpstr>Gill Sans MT</vt:lpstr>
      <vt:lpstr>Times New Roman</vt:lpstr>
      <vt:lpstr>Wingdings</vt:lpstr>
      <vt:lpstr>Wingdings 3</vt:lpstr>
      <vt:lpstr>Origin</vt:lpstr>
      <vt:lpstr>CGB1121 – PYTHON PROGRAMMING END SEMESTER PROJECT REVIEW – APRIL/MAY 2026</vt:lpstr>
      <vt:lpstr>Title of the Project</vt:lpstr>
      <vt:lpstr>Abstract </vt:lpstr>
      <vt:lpstr>Abstract with CO/PO Mapping</vt:lpstr>
      <vt:lpstr>Introduction</vt:lpstr>
      <vt:lpstr>Python Programming  - Concepts Used</vt:lpstr>
      <vt:lpstr>Proposed Architecture</vt:lpstr>
      <vt:lpstr>Proposed Architecture - Description</vt:lpstr>
      <vt:lpstr>List of Modules</vt:lpstr>
      <vt:lpstr>Description of Modules</vt:lpstr>
      <vt:lpstr>Results and Discussion</vt:lpstr>
      <vt:lpstr>Results and Discussion(Cont..)</vt:lpstr>
      <vt:lpstr>Results and Discussion(Cont..)</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CGB1121 – PYTHON PROGRAMMING PROJECT REVIEW-2</dc:title>
  <dc:creator/>
  <cp:lastModifiedBy>SRIDHARAN SRY</cp:lastModifiedBy>
  <cp:revision>20</cp:revision>
  <dcterms:modified xsi:type="dcterms:W3CDTF">2026-06-03T15:55:41Z</dcterms:modified>
</cp:coreProperties>
</file>